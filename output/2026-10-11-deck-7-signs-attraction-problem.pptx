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16x9"/>
  <p:notesSz cx="6858000" cy="9144000"/>
  <p:defaultTextStyle>
    <a:defPPr>
      <a:defRPr lang="en"/>
    </a:defPPr>
    <a:lvl1pPr marL="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e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attraction_deck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attraction_deck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" smtClean="0"/>
              <a:t>1/27/13</a:t>
            </a:fld>
            <a:endParaRPr lang="e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e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" smtClean="0"/>
              <a:t>‹#›</a:t>
            </a:fld>
            <a:endParaRPr lang="e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e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e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"/>
      </a:defPPr>
      <a:lvl1pPr marL="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e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8382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19050">
            <a:solidFill>
              <a:srgbClr val="C17A5A"/>
            </a:solidFill>
          </a:ln>
        </p:spPr>
      </p:sp>
      <p:grpSp>
        <p:nvGrpSpPr>
          <p:cNvPr id="4" name="kicker"/>
          <p:cNvGrpSpPr/>
          <p:nvPr/>
        </p:nvGrpSpPr>
        <p:grpSpPr>
          <a:xfrm>
            <a:off x="1211580" y="908050"/>
            <a:ext cx="3974135" cy="293370"/>
            <a:chOff x="1211580" y="908050"/>
            <a:chExt cx="3974135" cy="293370"/>
          </a:xfrm>
        </p:grpSpPr>
        <p:sp>
          <p:nvSpPr>
            <p:cNvPr id="3" name="TextBox 3"/>
            <p:cNvSpPr txBox="1"/>
            <p:nvPr/>
          </p:nvSpPr>
          <p:spPr>
            <a:xfrm>
              <a:off x="1211580" y="908050"/>
              <a:ext cx="3974135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spc="225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  <a:t>CLIENT ATTRACTION WORKSHOP</a:t>
              </a:r>
            </a:p>
          </p:txBody>
        </p:sp>
      </p:grpSp>
      <p:grpSp>
        <p:nvGrpSpPr>
          <p:cNvPr id="6" name="hero-numeral"/>
          <p:cNvGrpSpPr/>
          <p:nvPr/>
        </p:nvGrpSpPr>
        <p:grpSpPr>
          <a:xfrm>
            <a:off x="1200150" y="996950"/>
            <a:ext cx="2137162" cy="5162550"/>
            <a:chOff x="1200150" y="996950"/>
            <a:chExt cx="2137162" cy="5162550"/>
          </a:xfrm>
        </p:grpSpPr>
        <p:sp>
          <p:nvSpPr>
            <p:cNvPr id="5" name="TextBox 5"/>
            <p:cNvSpPr txBox="1"/>
            <p:nvPr/>
          </p:nvSpPr>
          <p:spPr>
            <a:xfrm>
              <a:off x="1200150" y="996950"/>
              <a:ext cx="2137162" cy="5162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7000" b="1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  <p:grpSp>
        <p:nvGrpSpPr>
          <p:cNvPr id="8" name="title"/>
          <p:cNvGrpSpPr/>
          <p:nvPr/>
        </p:nvGrpSpPr>
        <p:grpSpPr>
          <a:xfrm>
            <a:off x="4076700" y="1670050"/>
            <a:ext cx="6154865" cy="3105150"/>
            <a:chOff x="4076700" y="1670050"/>
            <a:chExt cx="6154865" cy="3105150"/>
          </a:xfrm>
        </p:grpSpPr>
        <p:sp>
          <p:nvSpPr>
            <p:cNvPr id="7" name="TextBox 7"/>
            <p:cNvSpPr txBox="1"/>
            <p:nvPr/>
          </p:nvSpPr>
          <p:spPr>
            <a:xfrm>
              <a:off x="4076700" y="1670050"/>
              <a:ext cx="6154865" cy="3105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7200"/>
                </a:lnSpc>
              </a:pPr>
              <a:r>
                <a:rPr lang="en" sz="660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Signs You Have</a:t>
              </a:r>
              <a:br>
                <a:rPr lang="en" sz="660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</a:br>
              <a:r>
                <a:rPr lang="en" sz="660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an Attraction</a:t>
              </a:r>
              <a:br>
                <a:rPr lang="en" sz="660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</a:br>
              <a:r>
                <a:rPr lang="en" sz="660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Problem</a:t>
              </a:r>
            </a:p>
          </p:txBody>
        </p:sp>
      </p:grpSp>
      <p:grpSp>
        <p:nvGrpSpPr>
          <p:cNvPr id="11" name="hook"/>
          <p:cNvGrpSpPr/>
          <p:nvPr/>
        </p:nvGrpSpPr>
        <p:grpSpPr>
          <a:xfrm>
            <a:off x="1219200" y="5619750"/>
            <a:ext cx="8096354" cy="498729"/>
            <a:chOff x="1219200" y="5619750"/>
            <a:chExt cx="8096354" cy="498729"/>
          </a:xfrm>
        </p:grpSpPr>
        <p:sp>
          <p:nvSpPr>
            <p:cNvPr id="9" name="Rectangle 9"/>
            <p:cNvSpPr/>
            <p:nvPr/>
          </p:nvSpPr>
          <p:spPr>
            <a:xfrm>
              <a:off x="1219200" y="5619750"/>
              <a:ext cx="57150" cy="381000"/>
            </a:xfrm>
            <a:prstGeom prst="rect">
              <a:avLst/>
            </a:prstGeom>
            <a:solidFill>
              <a:srgbClr val="8B4A2A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434846" y="5619750"/>
              <a:ext cx="7880708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550" i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Attraction is a positioning problem in disguise.</a:t>
              </a:r>
            </a:p>
          </p:txBody>
        </p:sp>
      </p:grpSp>
      <p:grpSp>
        <p:nvGrpSpPr>
          <p:cNvPr id="14" name="footer"/>
          <p:cNvGrpSpPr/>
          <p:nvPr/>
        </p:nvGrpSpPr>
        <p:grpSpPr>
          <a:xfrm>
            <a:off x="1213104" y="6343650"/>
            <a:ext cx="10222992" cy="234696"/>
            <a:chOff x="1213104" y="6343650"/>
            <a:chExt cx="10222992" cy="234696"/>
          </a:xfrm>
        </p:grpSpPr>
        <p:sp>
          <p:nvSpPr>
            <p:cNvPr id="12" name="TextBox 12"/>
            <p:cNvSpPr txBox="1"/>
            <p:nvPr/>
          </p:nvSpPr>
          <p:spPr>
            <a:xfrm>
              <a:off x="1213104" y="6343650"/>
              <a:ext cx="1431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Brandvictory.com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6177" y="634365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@samtrabulsi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8382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19050">
            <a:solidFill>
              <a:srgbClr val="C17A5A"/>
            </a:solidFill>
          </a:ln>
        </p:spPr>
      </p:sp>
      <p:grpSp>
        <p:nvGrpSpPr>
          <p:cNvPr id="5" name="header"/>
          <p:cNvGrpSpPr/>
          <p:nvPr/>
        </p:nvGrpSpPr>
        <p:grpSpPr>
          <a:xfrm>
            <a:off x="1200150" y="908050"/>
            <a:ext cx="5682261" cy="1193800"/>
            <a:chOff x="1200150" y="908050"/>
            <a:chExt cx="5682261" cy="1193800"/>
          </a:xfrm>
        </p:grpSpPr>
        <p:sp>
          <p:nvSpPr>
            <p:cNvPr id="3" name="TextBox 3"/>
            <p:cNvSpPr txBox="1"/>
            <p:nvPr/>
          </p:nvSpPr>
          <p:spPr>
            <a:xfrm>
              <a:off x="1211580" y="908050"/>
              <a:ext cx="228912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spc="225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  <a:t>BEFORE WE START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00150" y="1339850"/>
              <a:ext cx="5682261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90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Keep score as we go.</a:t>
              </a:r>
            </a:p>
          </p:txBody>
        </p:sp>
      </p:grpSp>
      <p:grpSp>
        <p:nvGrpSpPr>
          <p:cNvPr id="8" name="prompt"/>
          <p:cNvGrpSpPr/>
          <p:nvPr/>
        </p:nvGrpSpPr>
        <p:grpSpPr>
          <a:xfrm>
            <a:off x="1206246" y="2374900"/>
            <a:ext cx="8443924" cy="1152779"/>
            <a:chOff x="1206246" y="2374900"/>
            <a:chExt cx="8443924" cy="1152779"/>
          </a:xfrm>
        </p:grpSpPr>
        <p:sp>
          <p:nvSpPr>
            <p:cNvPr id="6" name="TextBox 6"/>
            <p:cNvSpPr txBox="1"/>
            <p:nvPr/>
          </p:nvSpPr>
          <p:spPr>
            <a:xfrm>
              <a:off x="1208532" y="2374900"/>
              <a:ext cx="844163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For each of the next seven signs, ask yourself one question: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06246" y="3028950"/>
              <a:ext cx="7320193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550" b="1" i="1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  <a:t>“Is this true for my business right now?”</a:t>
              </a:r>
            </a:p>
          </p:txBody>
        </p:sp>
      </p:grpSp>
      <p:grpSp>
        <p:nvGrpSpPr>
          <p:cNvPr id="28" name="tally"/>
          <p:cNvGrpSpPr/>
          <p:nvPr/>
        </p:nvGrpSpPr>
        <p:grpSpPr>
          <a:xfrm>
            <a:off x="1211580" y="4381500"/>
            <a:ext cx="9907120" cy="1449070"/>
            <a:chOff x="1211580" y="4381500"/>
            <a:chExt cx="9907120" cy="1449070"/>
          </a:xfrm>
        </p:grpSpPr>
        <p:grpSp>
          <p:nvGrpSpPr>
            <p:cNvPr id="16" name="tally-boxes"/>
            <p:cNvGrpSpPr/>
            <p:nvPr/>
          </p:nvGrpSpPr>
          <p:grpSpPr>
            <a:xfrm>
              <a:off x="1238250" y="4381500"/>
              <a:ext cx="7620000" cy="762000"/>
              <a:chOff x="1238250" y="4381500"/>
              <a:chExt cx="7620000" cy="762000"/>
            </a:xfrm>
          </p:grpSpPr>
          <p:sp>
            <p:nvSpPr>
              <p:cNvPr id="9" name="Ellipse 9"/>
              <p:cNvSpPr/>
              <p:nvPr/>
            </p:nvSpPr>
            <p:spPr>
              <a:xfrm>
                <a:off x="1238250" y="4381500"/>
                <a:ext cx="762000" cy="762000"/>
              </a:xfrm>
              <a:prstGeom prst="ellipse">
                <a:avLst/>
              </a:prstGeom>
              <a:noFill/>
              <a:ln w="19050">
                <a:solidFill>
                  <a:srgbClr val="C17A5A"/>
                </a:solidFill>
              </a:ln>
            </p:spPr>
          </p:sp>
          <p:sp>
            <p:nvSpPr>
              <p:cNvPr id="10" name="Ellipse 10"/>
              <p:cNvSpPr/>
              <p:nvPr/>
            </p:nvSpPr>
            <p:spPr>
              <a:xfrm>
                <a:off x="2381250" y="4381500"/>
                <a:ext cx="762000" cy="762000"/>
              </a:xfrm>
              <a:prstGeom prst="ellipse">
                <a:avLst/>
              </a:prstGeom>
              <a:noFill/>
              <a:ln w="19050">
                <a:solidFill>
                  <a:srgbClr val="C17A5A"/>
                </a:solidFill>
              </a:ln>
            </p:spPr>
          </p:sp>
          <p:sp>
            <p:nvSpPr>
              <p:cNvPr id="11" name="Ellipse 11"/>
              <p:cNvSpPr/>
              <p:nvPr/>
            </p:nvSpPr>
            <p:spPr>
              <a:xfrm>
                <a:off x="3524250" y="4381500"/>
                <a:ext cx="762000" cy="762000"/>
              </a:xfrm>
              <a:prstGeom prst="ellipse">
                <a:avLst/>
              </a:prstGeom>
              <a:noFill/>
              <a:ln w="19050">
                <a:solidFill>
                  <a:srgbClr val="C17A5A"/>
                </a:solidFill>
              </a:ln>
            </p:spPr>
          </p:sp>
          <p:sp>
            <p:nvSpPr>
              <p:cNvPr id="12" name="Ellipse 12"/>
              <p:cNvSpPr/>
              <p:nvPr/>
            </p:nvSpPr>
            <p:spPr>
              <a:xfrm>
                <a:off x="4667250" y="4381500"/>
                <a:ext cx="762000" cy="762000"/>
              </a:xfrm>
              <a:prstGeom prst="ellipse">
                <a:avLst/>
              </a:prstGeom>
              <a:noFill/>
              <a:ln w="19050">
                <a:solidFill>
                  <a:srgbClr val="C17A5A"/>
                </a:solidFill>
              </a:ln>
            </p:spPr>
          </p:sp>
          <p:sp>
            <p:nvSpPr>
              <p:cNvPr id="13" name="Ellipse 13"/>
              <p:cNvSpPr/>
              <p:nvPr/>
            </p:nvSpPr>
            <p:spPr>
              <a:xfrm>
                <a:off x="5810250" y="4381500"/>
                <a:ext cx="762000" cy="762000"/>
              </a:xfrm>
              <a:prstGeom prst="ellipse">
                <a:avLst/>
              </a:prstGeom>
              <a:noFill/>
              <a:ln w="19050">
                <a:solidFill>
                  <a:srgbClr val="C17A5A"/>
                </a:solidFill>
              </a:ln>
            </p:spPr>
          </p:sp>
          <p:sp>
            <p:nvSpPr>
              <p:cNvPr id="14" name="Ellipse 14"/>
              <p:cNvSpPr/>
              <p:nvPr/>
            </p:nvSpPr>
            <p:spPr>
              <a:xfrm>
                <a:off x="6953250" y="4381500"/>
                <a:ext cx="762000" cy="762000"/>
              </a:xfrm>
              <a:prstGeom prst="ellipse">
                <a:avLst/>
              </a:prstGeom>
              <a:noFill/>
              <a:ln w="19050">
                <a:solidFill>
                  <a:srgbClr val="C17A5A"/>
                </a:solidFill>
              </a:ln>
            </p:spPr>
          </p:sp>
          <p:sp>
            <p:nvSpPr>
              <p:cNvPr id="15" name="Ellipse 15"/>
              <p:cNvSpPr/>
              <p:nvPr/>
            </p:nvSpPr>
            <p:spPr>
              <a:xfrm>
                <a:off x="8096250" y="4381500"/>
                <a:ext cx="762000" cy="762000"/>
              </a:xfrm>
              <a:prstGeom prst="ellipse">
                <a:avLst/>
              </a:prstGeom>
              <a:noFill/>
              <a:ln w="19050">
                <a:solidFill>
                  <a:srgbClr val="C17A5A"/>
                </a:solidFill>
              </a:ln>
            </p:spPr>
          </p:sp>
        </p:grpSp>
        <p:grpSp>
          <p:nvGrpSpPr>
            <p:cNvPr id="24" name="tally-numbers"/>
            <p:cNvGrpSpPr/>
            <p:nvPr/>
          </p:nvGrpSpPr>
          <p:grpSpPr>
            <a:xfrm>
              <a:off x="1526952" y="4603750"/>
              <a:ext cx="7042596" cy="410718"/>
              <a:chOff x="1526952" y="4603750"/>
              <a:chExt cx="7042596" cy="410718"/>
            </a:xfrm>
          </p:grpSpPr>
          <p:sp>
            <p:nvSpPr>
              <p:cNvPr id="17" name="TextBox 17"/>
              <p:cNvSpPr txBox="1"/>
              <p:nvPr/>
            </p:nvSpPr>
            <p:spPr>
              <a:xfrm>
                <a:off x="1526952" y="4603750"/>
                <a:ext cx="1845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2100" b="1" dirty="0">
                    <a:solidFill>
                      <a:srgbClr val="F5EDE8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2669952" y="4603750"/>
                <a:ext cx="1845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2100" b="1" dirty="0">
                    <a:solidFill>
                      <a:srgbClr val="F5EDE8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3812952" y="4603750"/>
                <a:ext cx="1845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2100" b="1" dirty="0">
                    <a:solidFill>
                      <a:srgbClr val="F5EDE8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4955952" y="4603750"/>
                <a:ext cx="1845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2100" b="1" dirty="0">
                    <a:solidFill>
                      <a:srgbClr val="F5EDE8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6098952" y="4603750"/>
                <a:ext cx="1845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2100" b="1" dirty="0">
                    <a:solidFill>
                      <a:srgbClr val="F5EDE8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241952" y="4603750"/>
                <a:ext cx="1845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2100" b="1" dirty="0">
                    <a:solidFill>
                      <a:srgbClr val="F5EDE8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384952" y="4603750"/>
                <a:ext cx="184596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" sz="2100" b="1" dirty="0">
                    <a:solidFill>
                      <a:srgbClr val="F5EDE8"/>
                    </a:solidFill>
                    <a:latin typeface="+mn-lt"/>
                    <a:ea typeface="+mn-ea"/>
                    <a:cs typeface="+mn-cs"/>
                  </a:rPr>
                  <a:t>7</a:t>
                </a:r>
              </a:p>
            </p:txBody>
          </p:sp>
        </p:grpSp>
        <p:sp>
          <p:nvSpPr>
            <p:cNvPr id="25" name="Line 25"/>
            <p:cNvSpPr/>
            <p:nvPr/>
          </p:nvSpPr>
          <p:spPr>
            <a:xfrm>
              <a:off x="9144000" y="4762500"/>
              <a:ext cx="762000" cy="9525"/>
            </a:xfrm>
            <a:custGeom>
              <a:avLst/>
              <a:gdLst/>
              <a:ahLst/>
              <a:cxnLst/>
              <a:rect l="l" t="t" r="r" b="b"/>
              <a:pathLst>
                <a:path w="762000" h="9525">
                  <a:moveTo>
                    <a:pt x="0" y="0"/>
                  </a:moveTo>
                  <a:lnTo>
                    <a:pt x="762000" y="0"/>
                  </a:lnTo>
                </a:path>
              </a:pathLst>
            </a:custGeom>
            <a:noFill/>
            <a:ln w="19050">
              <a:solidFill>
                <a:srgbClr val="8B4A2A"/>
              </a:solidFill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083546" y="4572000"/>
              <a:ext cx="1035154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55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__ / 7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211580" y="5537200"/>
              <a:ext cx="623837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Tick one circle for every sign that applies. Total it at the end.</a:t>
              </a:r>
            </a:p>
          </p:txBody>
        </p:sp>
      </p:grpSp>
      <p:grpSp>
        <p:nvGrpSpPr>
          <p:cNvPr id="32" name="footer"/>
          <p:cNvGrpSpPr/>
          <p:nvPr/>
        </p:nvGrpSpPr>
        <p:grpSpPr>
          <a:xfrm>
            <a:off x="1213104" y="6343650"/>
            <a:ext cx="10222992" cy="234696"/>
            <a:chOff x="1213104" y="6343650"/>
            <a:chExt cx="10222992" cy="234696"/>
          </a:xfrm>
        </p:grpSpPr>
        <p:sp>
          <p:nvSpPr>
            <p:cNvPr id="29" name="TextBox 29"/>
            <p:cNvSpPr txBox="1"/>
            <p:nvPr/>
          </p:nvSpPr>
          <p:spPr>
            <a:xfrm>
              <a:off x="1213104" y="6343650"/>
              <a:ext cx="1431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Brandvictory.com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5819318" y="63436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02 / 08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06177" y="634365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@samtrabulsi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8382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19050">
            <a:solidFill>
              <a:srgbClr val="C17A5A"/>
            </a:solidFill>
          </a:ln>
        </p:spPr>
      </p:sp>
      <p:grpSp>
        <p:nvGrpSpPr>
          <p:cNvPr id="5" name="header"/>
          <p:cNvGrpSpPr/>
          <p:nvPr/>
        </p:nvGrpSpPr>
        <p:grpSpPr>
          <a:xfrm>
            <a:off x="1200150" y="908050"/>
            <a:ext cx="7718810" cy="1098550"/>
            <a:chOff x="1200150" y="908050"/>
            <a:chExt cx="7718810" cy="1098550"/>
          </a:xfrm>
        </p:grpSpPr>
        <p:sp>
          <p:nvSpPr>
            <p:cNvPr id="3" name="TextBox 3"/>
            <p:cNvSpPr txBox="1"/>
            <p:nvPr/>
          </p:nvSpPr>
          <p:spPr>
            <a:xfrm>
              <a:off x="1211580" y="908050"/>
              <a:ext cx="12681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spc="225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  <a:t>SIGNS 1–2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00150" y="1244600"/>
              <a:ext cx="771881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90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Quiet brand, loud sales calls</a:t>
              </a:r>
            </a:p>
          </p:txBody>
        </p:sp>
      </p:grpSp>
      <p:grpSp>
        <p:nvGrpSpPr>
          <p:cNvPr id="15" name="sign-1"/>
          <p:cNvGrpSpPr/>
          <p:nvPr/>
        </p:nvGrpSpPr>
        <p:grpSpPr>
          <a:xfrm>
            <a:off x="1200150" y="2146300"/>
            <a:ext cx="4500562" cy="3414268"/>
            <a:chOff x="1200150" y="2146300"/>
            <a:chExt cx="4500562" cy="3414268"/>
          </a:xfrm>
        </p:grpSpPr>
        <p:sp>
          <p:nvSpPr>
            <p:cNvPr id="6" name="TextBox 6"/>
            <p:cNvSpPr txBox="1"/>
            <p:nvPr/>
          </p:nvSpPr>
          <p:spPr>
            <a:xfrm>
              <a:off x="1200150" y="2146300"/>
              <a:ext cx="1437475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0" b="1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5386387" y="2547937"/>
              <a:ext cx="314325" cy="314325"/>
              <a:chOff x="5386387" y="2547937"/>
              <a:chExt cx="314325" cy="31432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5386387" y="2652712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52387"/>
                    </a:moveTo>
                    <a:cubicBezTo>
                      <a:pt x="0" y="81320"/>
                      <a:pt x="23455" y="104775"/>
                      <a:pt x="52387" y="104775"/>
                    </a:cubicBezTo>
                    <a:cubicBezTo>
                      <a:pt x="81320" y="104775"/>
                      <a:pt x="104775" y="81320"/>
                      <a:pt x="104775" y="52387"/>
                    </a:cubicBezTo>
                    <a:cubicBezTo>
                      <a:pt x="104775" y="23455"/>
                      <a:pt x="81320" y="0"/>
                      <a:pt x="52387" y="0"/>
                    </a:cubicBezTo>
                    <a:cubicBezTo>
                      <a:pt x="23455" y="0"/>
                      <a:pt x="0" y="23455"/>
                      <a:pt x="0" y="52387"/>
                    </a:cubicBezTo>
                  </a:path>
                </a:pathLst>
              </a:custGeom>
              <a:noFill/>
              <a:ln w="34925">
                <a:solidFill>
                  <a:srgbClr val="A89E98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5595937" y="2547937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52387"/>
                    </a:moveTo>
                    <a:cubicBezTo>
                      <a:pt x="0" y="81320"/>
                      <a:pt x="23455" y="104775"/>
                      <a:pt x="52387" y="104775"/>
                    </a:cubicBezTo>
                    <a:cubicBezTo>
                      <a:pt x="81320" y="104775"/>
                      <a:pt x="104775" y="81320"/>
                      <a:pt x="104775" y="52387"/>
                    </a:cubicBezTo>
                    <a:cubicBezTo>
                      <a:pt x="104775" y="23455"/>
                      <a:pt x="81320" y="0"/>
                      <a:pt x="52387" y="0"/>
                    </a:cubicBezTo>
                    <a:cubicBezTo>
                      <a:pt x="23455" y="0"/>
                      <a:pt x="0" y="23455"/>
                      <a:pt x="0" y="52387"/>
                    </a:cubicBezTo>
                  </a:path>
                </a:pathLst>
              </a:custGeom>
              <a:noFill/>
              <a:ln w="34925">
                <a:solidFill>
                  <a:srgbClr val="A89E98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5595937" y="2757487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52387"/>
                    </a:moveTo>
                    <a:cubicBezTo>
                      <a:pt x="0" y="81320"/>
                      <a:pt x="23455" y="104775"/>
                      <a:pt x="52387" y="104775"/>
                    </a:cubicBezTo>
                    <a:cubicBezTo>
                      <a:pt x="81320" y="104775"/>
                      <a:pt x="104775" y="81320"/>
                      <a:pt x="104775" y="52387"/>
                    </a:cubicBezTo>
                    <a:cubicBezTo>
                      <a:pt x="104775" y="23455"/>
                      <a:pt x="81320" y="0"/>
                      <a:pt x="52387" y="0"/>
                    </a:cubicBezTo>
                    <a:cubicBezTo>
                      <a:pt x="23455" y="0"/>
                      <a:pt x="0" y="23455"/>
                      <a:pt x="0" y="52387"/>
                    </a:cubicBezTo>
                  </a:path>
                </a:pathLst>
              </a:custGeom>
              <a:noFill/>
              <a:ln w="34925">
                <a:solidFill>
                  <a:srgbClr val="A89E98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5485923" y="2623026"/>
                <a:ext cx="115252" cy="59372"/>
              </a:xfrm>
              <a:custGeom>
                <a:avLst/>
                <a:gdLst/>
                <a:ahLst/>
                <a:cxnLst/>
                <a:rect l="l" t="t" r="r" b="b"/>
                <a:pathLst>
                  <a:path w="115252" h="59372">
                    <a:moveTo>
                      <a:pt x="0" y="59372"/>
                    </a:moveTo>
                    <a:lnTo>
                      <a:pt x="115252" y="0"/>
                    </a:lnTo>
                  </a:path>
                </a:pathLst>
              </a:custGeom>
              <a:noFill/>
              <a:ln w="34925">
                <a:solidFill>
                  <a:srgbClr val="A89E98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5485923" y="2727801"/>
                <a:ext cx="115252" cy="59372"/>
              </a:xfrm>
              <a:custGeom>
                <a:avLst/>
                <a:gdLst/>
                <a:ahLst/>
                <a:cxnLst/>
                <a:rect l="l" t="t" r="r" b="b"/>
                <a:pathLst>
                  <a:path w="115252" h="59372">
                    <a:moveTo>
                      <a:pt x="0" y="0"/>
                    </a:moveTo>
                    <a:lnTo>
                      <a:pt x="115252" y="59372"/>
                    </a:lnTo>
                  </a:path>
                </a:pathLst>
              </a:custGeom>
              <a:noFill/>
              <a:ln w="34925">
                <a:solidFill>
                  <a:srgbClr val="A89E98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206246" y="3625850"/>
              <a:ext cx="2797254" cy="9178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" sz="255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Leads come from</a:t>
              </a:r>
              <a:br>
                <a:rPr lang="en" sz="255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</a:br>
              <a:r>
                <a:rPr lang="en" sz="255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referrals only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208532" y="4730750"/>
              <a:ext cx="2995041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" sz="21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Your brand is not doing</a:t>
              </a:r>
              <a:br>
                <a:rPr lang="en" sz="21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</a:br>
              <a:r>
                <a:rPr lang="en" sz="21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any of the work.</a:t>
              </a:r>
            </a:p>
          </p:txBody>
        </p:sp>
      </p:grpSp>
      <p:sp>
        <p:nvSpPr>
          <p:cNvPr id="16" name="Line 16"/>
          <p:cNvSpPr/>
          <p:nvPr/>
        </p:nvSpPr>
        <p:spPr>
          <a:xfrm>
            <a:off x="6191250" y="2381250"/>
            <a:ext cx="9525" cy="3238500"/>
          </a:xfrm>
          <a:custGeom>
            <a:avLst/>
            <a:gdLst/>
            <a:ahLst/>
            <a:cxnLst/>
            <a:rect l="l" t="t" r="r" b="b"/>
            <a:pathLst>
              <a:path w="9525" h="3238500">
                <a:moveTo>
                  <a:pt x="0" y="0"/>
                </a:moveTo>
                <a:lnTo>
                  <a:pt x="0" y="3238500"/>
                </a:lnTo>
              </a:path>
            </a:pathLst>
          </a:custGeom>
          <a:noFill/>
          <a:ln w="19050">
            <a:solidFill>
              <a:srgbClr val="2A2522"/>
            </a:solidFill>
          </a:ln>
        </p:spPr>
      </p:sp>
      <p:grpSp>
        <p:nvGrpSpPr>
          <p:cNvPr id="24" name="sign-2"/>
          <p:cNvGrpSpPr/>
          <p:nvPr/>
        </p:nvGrpSpPr>
        <p:grpSpPr>
          <a:xfrm>
            <a:off x="6553200" y="2146300"/>
            <a:ext cx="4767262" cy="3414268"/>
            <a:chOff x="6553200" y="2146300"/>
            <a:chExt cx="4767262" cy="3414268"/>
          </a:xfrm>
        </p:grpSpPr>
        <p:sp>
          <p:nvSpPr>
            <p:cNvPr id="17" name="TextBox 17"/>
            <p:cNvSpPr txBox="1"/>
            <p:nvPr/>
          </p:nvSpPr>
          <p:spPr>
            <a:xfrm>
              <a:off x="6553200" y="2146300"/>
              <a:ext cx="1437475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0" b="1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grpSp>
          <p:nvGrpSpPr>
            <p:cNvPr id="21" name="Group 21"/>
            <p:cNvGrpSpPr/>
            <p:nvPr/>
          </p:nvGrpSpPr>
          <p:grpSpPr>
            <a:xfrm>
              <a:off x="11006137" y="2547937"/>
              <a:ext cx="314325" cy="314325"/>
              <a:chOff x="11006137" y="2547937"/>
              <a:chExt cx="314325" cy="314325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11006137" y="2565400"/>
                <a:ext cx="296862" cy="296862"/>
              </a:xfrm>
              <a:custGeom>
                <a:avLst/>
                <a:gdLst/>
                <a:ahLst/>
                <a:cxnLst/>
                <a:rect l="l" t="t" r="r" b="b"/>
                <a:pathLst>
                  <a:path w="296862" h="296862">
                    <a:moveTo>
                      <a:pt x="34925" y="0"/>
                    </a:moveTo>
                    <a:lnTo>
                      <a:pt x="104775" y="0"/>
                    </a:lnTo>
                    <a:lnTo>
                      <a:pt x="139700" y="87312"/>
                    </a:lnTo>
                    <a:lnTo>
                      <a:pt x="96044" y="113506"/>
                    </a:lnTo>
                    <a:cubicBezTo>
                      <a:pt x="114745" y="151426"/>
                      <a:pt x="145436" y="182117"/>
                      <a:pt x="183356" y="200818"/>
                    </a:cubicBezTo>
                    <a:lnTo>
                      <a:pt x="209550" y="157162"/>
                    </a:lnTo>
                    <a:lnTo>
                      <a:pt x="296862" y="192087"/>
                    </a:lnTo>
                    <a:lnTo>
                      <a:pt x="296862" y="261937"/>
                    </a:lnTo>
                    <a:cubicBezTo>
                      <a:pt x="296862" y="281226"/>
                      <a:pt x="281226" y="296862"/>
                      <a:pt x="261937" y="296862"/>
                    </a:cubicBezTo>
                    <a:cubicBezTo>
                      <a:pt x="120974" y="288296"/>
                      <a:pt x="8566" y="175888"/>
                      <a:pt x="0" y="34925"/>
                    </a:cubicBezTo>
                    <a:cubicBezTo>
                      <a:pt x="0" y="15636"/>
                      <a:pt x="15636" y="0"/>
                      <a:pt x="34925" y="0"/>
                    </a:cubicBezTo>
                  </a:path>
                </a:pathLst>
              </a:custGeom>
              <a:noFill/>
              <a:ln w="34925">
                <a:solidFill>
                  <a:srgbClr val="A89E9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1215687" y="2617787"/>
                <a:ext cx="34925" cy="34925"/>
              </a:xfrm>
              <a:custGeom>
                <a:avLst/>
                <a:gdLst/>
                <a:ahLst/>
                <a:cxnLst/>
                <a:rect l="l" t="t" r="r" b="b"/>
                <a:pathLst>
                  <a:path w="34925" h="34925">
                    <a:moveTo>
                      <a:pt x="0" y="0"/>
                    </a:moveTo>
                    <a:cubicBezTo>
                      <a:pt x="19289" y="0"/>
                      <a:pt x="34925" y="15636"/>
                      <a:pt x="34925" y="34925"/>
                    </a:cubicBezTo>
                  </a:path>
                </a:pathLst>
              </a:custGeom>
              <a:noFill/>
              <a:ln w="34925">
                <a:solidFill>
                  <a:srgbClr val="A89E9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1215687" y="2547937"/>
                <a:ext cx="104775" cy="104775"/>
              </a:xfrm>
              <a:custGeom>
                <a:avLst/>
                <a:gdLst/>
                <a:ahLst/>
                <a:cxnLst/>
                <a:rect l="l" t="t" r="r" b="b"/>
                <a:pathLst>
                  <a:path w="104775" h="104775">
                    <a:moveTo>
                      <a:pt x="0" y="0"/>
                    </a:moveTo>
                    <a:cubicBezTo>
                      <a:pt x="57866" y="0"/>
                      <a:pt x="104775" y="46909"/>
                      <a:pt x="104775" y="104775"/>
                    </a:cubicBezTo>
                  </a:path>
                </a:pathLst>
              </a:custGeom>
              <a:noFill/>
              <a:ln w="34925">
                <a:solidFill>
                  <a:srgbClr val="A89E98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6559296" y="3625850"/>
              <a:ext cx="3341322" cy="9178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" sz="255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You explain yourself</a:t>
              </a:r>
              <a:br>
                <a:rPr lang="en" sz="255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</a:br>
              <a:r>
                <a:rPr lang="en" sz="255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on every call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561582" y="4730750"/>
              <a:ext cx="3835146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" sz="21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Clear positioning sells itself.</a:t>
              </a:r>
              <a:br>
                <a:rPr lang="en" sz="21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</a:br>
              <a:r>
                <a:rPr lang="en" sz="21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You should not have to.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1213104" y="6343650"/>
            <a:ext cx="10222992" cy="234696"/>
            <a:chOff x="1213104" y="6343650"/>
            <a:chExt cx="10222992" cy="234696"/>
          </a:xfrm>
        </p:grpSpPr>
        <p:sp>
          <p:nvSpPr>
            <p:cNvPr id="25" name="TextBox 25"/>
            <p:cNvSpPr txBox="1"/>
            <p:nvPr/>
          </p:nvSpPr>
          <p:spPr>
            <a:xfrm>
              <a:off x="1213104" y="6343650"/>
              <a:ext cx="1431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Brandvictory.com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5819318" y="63436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03 / 08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0406177" y="634365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@samtrabulsi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8382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19050">
            <a:solidFill>
              <a:srgbClr val="C17A5A"/>
            </a:solidFill>
          </a:ln>
        </p:spPr>
      </p:sp>
      <p:grpSp>
        <p:nvGrpSpPr>
          <p:cNvPr id="5" name="header"/>
          <p:cNvGrpSpPr/>
          <p:nvPr/>
        </p:nvGrpSpPr>
        <p:grpSpPr>
          <a:xfrm>
            <a:off x="1200150" y="908050"/>
            <a:ext cx="10228863" cy="1098550"/>
            <a:chOff x="1200150" y="908050"/>
            <a:chExt cx="10228863" cy="1098550"/>
          </a:xfrm>
        </p:grpSpPr>
        <p:sp>
          <p:nvSpPr>
            <p:cNvPr id="3" name="TextBox 3"/>
            <p:cNvSpPr txBox="1"/>
            <p:nvPr/>
          </p:nvSpPr>
          <p:spPr>
            <a:xfrm>
              <a:off x="1211580" y="908050"/>
              <a:ext cx="12681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spc="225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  <a:t>SIGNS 3–4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00150" y="1244600"/>
              <a:ext cx="10228863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90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Wrong people show up, or nobody does</a:t>
              </a:r>
            </a:p>
          </p:txBody>
        </p:sp>
      </p:grpSp>
      <p:grpSp>
        <p:nvGrpSpPr>
          <p:cNvPr id="15" name="sign-3"/>
          <p:cNvGrpSpPr/>
          <p:nvPr/>
        </p:nvGrpSpPr>
        <p:grpSpPr>
          <a:xfrm>
            <a:off x="1200150" y="2355850"/>
            <a:ext cx="10229850" cy="1733550"/>
            <a:chOff x="1200150" y="2355850"/>
            <a:chExt cx="10229850" cy="1733550"/>
          </a:xfrm>
        </p:grpSpPr>
        <p:sp>
          <p:nvSpPr>
            <p:cNvPr id="6" name="TextBox 6"/>
            <p:cNvSpPr txBox="1"/>
            <p:nvPr/>
          </p:nvSpPr>
          <p:spPr>
            <a:xfrm>
              <a:off x="1200150" y="2355850"/>
              <a:ext cx="1437475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0" b="1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grpSp>
          <p:nvGrpSpPr>
            <p:cNvPr id="11" name="Group 11"/>
            <p:cNvGrpSpPr/>
            <p:nvPr/>
          </p:nvGrpSpPr>
          <p:grpSpPr>
            <a:xfrm>
              <a:off x="3190875" y="2543175"/>
              <a:ext cx="285751" cy="285751"/>
              <a:chOff x="3190875" y="2543175"/>
              <a:chExt cx="285751" cy="285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3286125" y="263842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95250"/>
                    </a:moveTo>
                    <a:lnTo>
                      <a:pt x="95250" y="0"/>
                    </a:lnTo>
                  </a:path>
                </a:pathLst>
              </a:custGeom>
              <a:noFill/>
              <a:ln w="31750">
                <a:solidFill>
                  <a:srgbClr val="A89E98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3286125" y="2638425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15875">
                    <a:moveTo>
                      <a:pt x="0" y="7938"/>
                    </a:moveTo>
                    <a:cubicBezTo>
                      <a:pt x="0" y="12321"/>
                      <a:pt x="3554" y="15875"/>
                      <a:pt x="7938" y="15875"/>
                    </a:cubicBezTo>
                    <a:cubicBezTo>
                      <a:pt x="12321" y="15875"/>
                      <a:pt x="15875" y="12321"/>
                      <a:pt x="15875" y="7938"/>
                    </a:cubicBezTo>
                    <a:cubicBezTo>
                      <a:pt x="15875" y="3554"/>
                      <a:pt x="12321" y="0"/>
                      <a:pt x="7938" y="0"/>
                    </a:cubicBezTo>
                    <a:cubicBezTo>
                      <a:pt x="3554" y="0"/>
                      <a:pt x="0" y="3554"/>
                      <a:pt x="0" y="7938"/>
                    </a:cubicBezTo>
                  </a:path>
                </a:pathLst>
              </a:custGeom>
              <a:noFill/>
              <a:ln w="31750">
                <a:solidFill>
                  <a:srgbClr val="A89E98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3365500" y="2717800"/>
                <a:ext cx="15875" cy="15875"/>
              </a:xfrm>
              <a:custGeom>
                <a:avLst/>
                <a:gdLst/>
                <a:ahLst/>
                <a:cxnLst/>
                <a:rect l="l" t="t" r="r" b="b"/>
                <a:pathLst>
                  <a:path w="15875" h="15875">
                    <a:moveTo>
                      <a:pt x="0" y="7938"/>
                    </a:moveTo>
                    <a:cubicBezTo>
                      <a:pt x="0" y="12321"/>
                      <a:pt x="3554" y="15875"/>
                      <a:pt x="7938" y="15875"/>
                    </a:cubicBezTo>
                    <a:cubicBezTo>
                      <a:pt x="12321" y="15875"/>
                      <a:pt x="15875" y="12321"/>
                      <a:pt x="15875" y="7938"/>
                    </a:cubicBezTo>
                    <a:cubicBezTo>
                      <a:pt x="15875" y="3554"/>
                      <a:pt x="12321" y="0"/>
                      <a:pt x="7938" y="0"/>
                    </a:cubicBezTo>
                    <a:cubicBezTo>
                      <a:pt x="3554" y="0"/>
                      <a:pt x="0" y="3554"/>
                      <a:pt x="0" y="7938"/>
                    </a:cubicBezTo>
                  </a:path>
                </a:pathLst>
              </a:custGeom>
              <a:noFill/>
              <a:ln w="31750">
                <a:solidFill>
                  <a:srgbClr val="A89E98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3190875" y="25431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A89E98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3130296" y="2978150"/>
              <a:ext cx="2865263" cy="9178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" sz="255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Clients negotiate</a:t>
              </a:r>
              <a:br>
                <a:rPr lang="en" sz="255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</a:br>
              <a:r>
                <a:rPr lang="en" sz="255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your price</a:t>
              </a:r>
            </a:p>
          </p:txBody>
        </p:sp>
        <p:sp>
          <p:nvSpPr>
            <p:cNvPr id="13" name="Freeform 13"/>
            <p:cNvSpPr/>
            <p:nvPr/>
          </p:nvSpPr>
          <p:spPr>
            <a:xfrm>
              <a:off x="7239000" y="2381250"/>
              <a:ext cx="4191000" cy="1428750"/>
            </a:xfrm>
            <a:prstGeom prst="snip1Rect">
              <a:avLst/>
            </a:prstGeom>
            <a:solidFill>
              <a:srgbClr val="8B4A2A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7514082" y="2692400"/>
              <a:ext cx="2728341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" sz="2100" i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Wrong people made it</a:t>
              </a:r>
              <a:br>
                <a:rPr lang="en" sz="2100" i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</a:br>
              <a:r>
                <a:rPr lang="en" sz="2100" i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to the call.</a:t>
              </a:r>
            </a:p>
          </p:txBody>
        </p:sp>
      </p:grpSp>
      <p:sp>
        <p:nvSpPr>
          <p:cNvPr id="16" name="Line 16"/>
          <p:cNvSpPr/>
          <p:nvPr/>
        </p:nvSpPr>
        <p:spPr>
          <a:xfrm>
            <a:off x="1219200" y="4048125"/>
            <a:ext cx="10210800" cy="9525"/>
          </a:xfrm>
          <a:custGeom>
            <a:avLst/>
            <a:gdLst/>
            <a:ahLst/>
            <a:cxnLst/>
            <a:rect l="l" t="t" r="r" b="b"/>
            <a:pathLst>
              <a:path w="10210800" h="9525">
                <a:moveTo>
                  <a:pt x="0" y="0"/>
                </a:moveTo>
                <a:lnTo>
                  <a:pt x="10210800" y="0"/>
                </a:lnTo>
              </a:path>
            </a:pathLst>
          </a:custGeom>
          <a:noFill/>
          <a:ln w="19050">
            <a:solidFill>
              <a:srgbClr val="2A2522"/>
            </a:solidFill>
          </a:ln>
        </p:spPr>
      </p:sp>
      <p:grpSp>
        <p:nvGrpSpPr>
          <p:cNvPr id="26" name="sign-4"/>
          <p:cNvGrpSpPr/>
          <p:nvPr/>
        </p:nvGrpSpPr>
        <p:grpSpPr>
          <a:xfrm>
            <a:off x="1200150" y="4260850"/>
            <a:ext cx="10229850" cy="1733550"/>
            <a:chOff x="1200150" y="4260850"/>
            <a:chExt cx="10229850" cy="1733550"/>
          </a:xfrm>
        </p:grpSpPr>
        <p:sp>
          <p:nvSpPr>
            <p:cNvPr id="17" name="TextBox 17"/>
            <p:cNvSpPr txBox="1"/>
            <p:nvPr/>
          </p:nvSpPr>
          <p:spPr>
            <a:xfrm>
              <a:off x="1200150" y="4260850"/>
              <a:ext cx="1437475" cy="1733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9000" b="1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3190875" y="4448175"/>
              <a:ext cx="285751" cy="285751"/>
              <a:chOff x="3190875" y="4448175"/>
              <a:chExt cx="285751" cy="285751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3270250" y="4543425"/>
                <a:ext cx="1270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27000" h="9525">
                    <a:moveTo>
                      <a:pt x="0" y="0"/>
                    </a:moveTo>
                    <a:lnTo>
                      <a:pt x="15875" y="0"/>
                    </a:lnTo>
                    <a:moveTo>
                      <a:pt x="79375" y="0"/>
                    </a:moveTo>
                    <a:lnTo>
                      <a:pt x="127000" y="0"/>
                    </a:lnTo>
                  </a:path>
                </a:pathLst>
              </a:custGeom>
              <a:noFill/>
              <a:ln w="31750">
                <a:solidFill>
                  <a:srgbClr val="A89E9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3270250" y="4606925"/>
                <a:ext cx="7937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79375" h="9525">
                    <a:moveTo>
                      <a:pt x="0" y="0"/>
                    </a:moveTo>
                    <a:lnTo>
                      <a:pt x="79375" y="0"/>
                    </a:lnTo>
                  </a:path>
                </a:pathLst>
              </a:custGeom>
              <a:noFill/>
              <a:ln w="31750">
                <a:solidFill>
                  <a:srgbClr val="A89E9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3190875" y="4464050"/>
                <a:ext cx="285751" cy="269876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69876">
                    <a:moveTo>
                      <a:pt x="79375" y="0"/>
                    </a:moveTo>
                    <a:lnTo>
                      <a:pt x="238125" y="0"/>
                    </a:lnTo>
                    <a:cubicBezTo>
                      <a:pt x="264428" y="0"/>
                      <a:pt x="285751" y="21322"/>
                      <a:pt x="285751" y="47625"/>
                    </a:cubicBezTo>
                    <a:lnTo>
                      <a:pt x="285751" y="174625"/>
                    </a:lnTo>
                    <a:cubicBezTo>
                      <a:pt x="285751" y="183785"/>
                      <a:pt x="283163" y="192342"/>
                      <a:pt x="278686" y="199597"/>
                    </a:cubicBezTo>
                    <a:moveTo>
                      <a:pt x="238125" y="222250"/>
                    </a:moveTo>
                    <a:lnTo>
                      <a:pt x="158750" y="222250"/>
                    </a:lnTo>
                    <a:lnTo>
                      <a:pt x="79375" y="269876"/>
                    </a:lnTo>
                    <a:lnTo>
                      <a:pt x="79375" y="222250"/>
                    </a:lnTo>
                    <a:lnTo>
                      <a:pt x="47625" y="222250"/>
                    </a:lnTo>
                    <a:cubicBezTo>
                      <a:pt x="21322" y="222250"/>
                      <a:pt x="0" y="200928"/>
                      <a:pt x="0" y="174625"/>
                    </a:cubicBezTo>
                    <a:lnTo>
                      <a:pt x="0" y="47625"/>
                    </a:lnTo>
                    <a:cubicBezTo>
                      <a:pt x="0" y="30401"/>
                      <a:pt x="9144" y="15304"/>
                      <a:pt x="22844" y="6953"/>
                    </a:cubicBezTo>
                  </a:path>
                </a:pathLst>
              </a:custGeom>
              <a:noFill/>
              <a:ln w="31750">
                <a:solidFill>
                  <a:srgbClr val="A89E9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3190875" y="44481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0"/>
                    </a:moveTo>
                    <a:lnTo>
                      <a:pt x="285751" y="285751"/>
                    </a:lnTo>
                  </a:path>
                </a:pathLst>
              </a:custGeom>
              <a:noFill/>
              <a:ln w="31750">
                <a:solidFill>
                  <a:srgbClr val="A89E98"/>
                </a:solidFill>
              </a:ln>
            </p:spPr>
          </p:sp>
        </p:grpSp>
        <p:sp>
          <p:nvSpPr>
            <p:cNvPr id="23" name="TextBox 23"/>
            <p:cNvSpPr txBox="1"/>
            <p:nvPr/>
          </p:nvSpPr>
          <p:spPr>
            <a:xfrm>
              <a:off x="3130296" y="4883150"/>
              <a:ext cx="3613356" cy="9178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" sz="255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You post consistently</a:t>
              </a:r>
              <a:br>
                <a:rPr lang="en" sz="255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</a:br>
              <a:r>
                <a:rPr lang="en" sz="255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but get no DMs</a:t>
              </a:r>
            </a:p>
          </p:txBody>
        </p:sp>
        <p:sp>
          <p:nvSpPr>
            <p:cNvPr id="24" name="Freeform 24"/>
            <p:cNvSpPr/>
            <p:nvPr/>
          </p:nvSpPr>
          <p:spPr>
            <a:xfrm>
              <a:off x="7239000" y="4286250"/>
              <a:ext cx="4191000" cy="1428750"/>
            </a:xfrm>
            <a:prstGeom prst="snip1Rect">
              <a:avLst/>
            </a:prstGeom>
            <a:solidFill>
              <a:srgbClr val="8B4A2A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514082" y="4597400"/>
              <a:ext cx="2634996" cy="8298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300"/>
                </a:lnSpc>
              </a:pPr>
              <a:r>
                <a:rPr lang="en" sz="2100" i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Content without</a:t>
              </a:r>
              <a:br>
                <a:rPr lang="en" sz="2100" i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</a:br>
              <a:r>
                <a:rPr lang="en" sz="2100" i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positioning is noise.</a:t>
              </a:r>
            </a:p>
          </p:txBody>
        </p:sp>
      </p:grpSp>
      <p:grpSp>
        <p:nvGrpSpPr>
          <p:cNvPr id="30" name="footer"/>
          <p:cNvGrpSpPr/>
          <p:nvPr/>
        </p:nvGrpSpPr>
        <p:grpSpPr>
          <a:xfrm>
            <a:off x="1213104" y="6343650"/>
            <a:ext cx="10222992" cy="234696"/>
            <a:chOff x="1213104" y="6343650"/>
            <a:chExt cx="10222992" cy="234696"/>
          </a:xfrm>
        </p:grpSpPr>
        <p:sp>
          <p:nvSpPr>
            <p:cNvPr id="27" name="TextBox 27"/>
            <p:cNvSpPr txBox="1"/>
            <p:nvPr/>
          </p:nvSpPr>
          <p:spPr>
            <a:xfrm>
              <a:off x="1213104" y="6343650"/>
              <a:ext cx="1431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Brandvictory.com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819318" y="63436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04 / 08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06177" y="634365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@samtrabulsi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8382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19050">
            <a:solidFill>
              <a:srgbClr val="C17A5A"/>
            </a:solidFill>
          </a:ln>
        </p:spPr>
      </p:sp>
      <p:grpSp>
        <p:nvGrpSpPr>
          <p:cNvPr id="5" name="header"/>
          <p:cNvGrpSpPr/>
          <p:nvPr/>
        </p:nvGrpSpPr>
        <p:grpSpPr>
          <a:xfrm>
            <a:off x="1200150" y="908050"/>
            <a:ext cx="5514970" cy="1098550"/>
            <a:chOff x="1200150" y="908050"/>
            <a:chExt cx="5514970" cy="1098550"/>
          </a:xfrm>
        </p:grpSpPr>
        <p:sp>
          <p:nvSpPr>
            <p:cNvPr id="3" name="TextBox 3"/>
            <p:cNvSpPr txBox="1"/>
            <p:nvPr/>
          </p:nvSpPr>
          <p:spPr>
            <a:xfrm>
              <a:off x="1211580" y="908050"/>
              <a:ext cx="1268197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spc="225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  <a:t>SIGNS 5–7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00150" y="1244600"/>
              <a:ext cx="5514970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90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Three more to check</a:t>
              </a:r>
            </a:p>
          </p:txBody>
        </p:sp>
      </p:grpSp>
      <p:grpSp>
        <p:nvGrpSpPr>
          <p:cNvPr id="12" name="sign-5"/>
          <p:cNvGrpSpPr/>
          <p:nvPr/>
        </p:nvGrpSpPr>
        <p:grpSpPr>
          <a:xfrm>
            <a:off x="1200150" y="2387600"/>
            <a:ext cx="5304663" cy="1025779"/>
            <a:chOff x="1200150" y="2387600"/>
            <a:chExt cx="5304663" cy="1025779"/>
          </a:xfrm>
        </p:grpSpPr>
        <p:sp>
          <p:nvSpPr>
            <p:cNvPr id="6" name="TextBox 6"/>
            <p:cNvSpPr txBox="1"/>
            <p:nvPr/>
          </p:nvSpPr>
          <p:spPr>
            <a:xfrm>
              <a:off x="1200150" y="238760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4800" b="1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  <p:grpSp>
          <p:nvGrpSpPr>
            <p:cNvPr id="10" name="Group 10"/>
            <p:cNvGrpSpPr/>
            <p:nvPr/>
          </p:nvGrpSpPr>
          <p:grpSpPr>
            <a:xfrm>
              <a:off x="2295525" y="2581275"/>
              <a:ext cx="285751" cy="285751"/>
              <a:chOff x="2295525" y="2581275"/>
              <a:chExt cx="285751" cy="285751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2295525" y="2581275"/>
                <a:ext cx="285751" cy="285751"/>
              </a:xfrm>
              <a:custGeom>
                <a:avLst/>
                <a:gdLst/>
                <a:ahLst/>
                <a:cxnLst/>
                <a:rect l="l" t="t" r="r" b="b"/>
                <a:pathLst>
                  <a:path w="285751" h="285751">
                    <a:moveTo>
                      <a:pt x="0" y="142875"/>
                    </a:moveTo>
                    <a:cubicBezTo>
                      <a:pt x="0" y="221783"/>
                      <a:pt x="63967" y="285751"/>
                      <a:pt x="142875" y="285751"/>
                    </a:cubicBezTo>
                    <a:cubicBezTo>
                      <a:pt x="221783" y="285751"/>
                      <a:pt x="285751" y="221783"/>
                      <a:pt x="285751" y="142875"/>
                    </a:cubicBezTo>
                    <a:cubicBezTo>
                      <a:pt x="285751" y="63967"/>
                      <a:pt x="221783" y="0"/>
                      <a:pt x="142875" y="0"/>
                    </a:cubicBezTo>
                    <a:cubicBezTo>
                      <a:pt x="63967" y="0"/>
                      <a:pt x="0" y="63967"/>
                      <a:pt x="0" y="142875"/>
                    </a:cubicBezTo>
                  </a:path>
                </a:pathLst>
              </a:custGeom>
              <a:noFill/>
              <a:ln w="31750">
                <a:solidFill>
                  <a:srgbClr val="A89E98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2390775" y="2660255"/>
                <a:ext cx="95250" cy="12779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127790">
                    <a:moveTo>
                      <a:pt x="92075" y="16270"/>
                    </a:moveTo>
                    <a:cubicBezTo>
                      <a:pt x="86215" y="6105"/>
                      <a:pt x="75227" y="0"/>
                      <a:pt x="63500" y="395"/>
                    </a:cubicBezTo>
                    <a:lnTo>
                      <a:pt x="31750" y="395"/>
                    </a:lnTo>
                    <a:cubicBezTo>
                      <a:pt x="14215" y="395"/>
                      <a:pt x="0" y="14610"/>
                      <a:pt x="0" y="32145"/>
                    </a:cubicBezTo>
                    <a:cubicBezTo>
                      <a:pt x="0" y="49680"/>
                      <a:pt x="14215" y="63895"/>
                      <a:pt x="31750" y="63895"/>
                    </a:cubicBezTo>
                    <a:lnTo>
                      <a:pt x="63500" y="63895"/>
                    </a:lnTo>
                    <a:cubicBezTo>
                      <a:pt x="81035" y="63895"/>
                      <a:pt x="95250" y="78110"/>
                      <a:pt x="95250" y="95645"/>
                    </a:cubicBezTo>
                    <a:cubicBezTo>
                      <a:pt x="95250" y="113180"/>
                      <a:pt x="81035" y="127395"/>
                      <a:pt x="63500" y="127395"/>
                    </a:cubicBezTo>
                    <a:lnTo>
                      <a:pt x="31750" y="127395"/>
                    </a:lnTo>
                    <a:cubicBezTo>
                      <a:pt x="20023" y="127790"/>
                      <a:pt x="9035" y="121685"/>
                      <a:pt x="3175" y="111520"/>
                    </a:cubicBezTo>
                  </a:path>
                </a:pathLst>
              </a:custGeom>
              <a:noFill/>
              <a:ln w="31750">
                <a:solidFill>
                  <a:srgbClr val="A89E98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2438400" y="2644775"/>
                <a:ext cx="9525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58750">
                    <a:moveTo>
                      <a:pt x="0" y="0"/>
                    </a:moveTo>
                    <a:lnTo>
                      <a:pt x="0" y="158750"/>
                    </a:lnTo>
                  </a:path>
                </a:pathLst>
              </a:custGeom>
              <a:noFill/>
              <a:ln w="31750">
                <a:solidFill>
                  <a:srgbClr val="A89E98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2806446" y="2533650"/>
              <a:ext cx="3698367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You attract beginners</a:t>
              </a:r>
              <a:br>
                <a:rPr lang="en" sz="255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</a:br>
              <a:r>
                <a:rPr lang="en" sz="255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on small budgets</a:t>
              </a:r>
            </a:p>
          </p:txBody>
        </p:sp>
      </p:grpSp>
      <p:grpSp>
        <p:nvGrpSpPr>
          <p:cNvPr id="18" name="sign-6"/>
          <p:cNvGrpSpPr/>
          <p:nvPr/>
        </p:nvGrpSpPr>
        <p:grpSpPr>
          <a:xfrm>
            <a:off x="1200150" y="3530600"/>
            <a:ext cx="5968673" cy="933450"/>
            <a:chOff x="1200150" y="3530600"/>
            <a:chExt cx="5968673" cy="933450"/>
          </a:xfrm>
        </p:grpSpPr>
        <p:sp>
          <p:nvSpPr>
            <p:cNvPr id="13" name="TextBox 13"/>
            <p:cNvSpPr txBox="1"/>
            <p:nvPr/>
          </p:nvSpPr>
          <p:spPr>
            <a:xfrm>
              <a:off x="1200150" y="353060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4800" b="1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2311400" y="3787775"/>
              <a:ext cx="254001" cy="158750"/>
              <a:chOff x="2311400" y="3787775"/>
              <a:chExt cx="254001" cy="1587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2311400" y="3787775"/>
                <a:ext cx="254001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254001" h="158750">
                    <a:moveTo>
                      <a:pt x="31750" y="0"/>
                    </a:moveTo>
                    <a:lnTo>
                      <a:pt x="206375" y="0"/>
                    </a:lnTo>
                    <a:cubicBezTo>
                      <a:pt x="223910" y="0"/>
                      <a:pt x="238125" y="14215"/>
                      <a:pt x="238125" y="31750"/>
                    </a:cubicBezTo>
                    <a:lnTo>
                      <a:pt x="238125" y="39688"/>
                    </a:lnTo>
                    <a:cubicBezTo>
                      <a:pt x="238125" y="44071"/>
                      <a:pt x="241679" y="47625"/>
                      <a:pt x="246063" y="47625"/>
                    </a:cubicBezTo>
                    <a:cubicBezTo>
                      <a:pt x="250447" y="47625"/>
                      <a:pt x="254001" y="51179"/>
                      <a:pt x="254001" y="55563"/>
                    </a:cubicBezTo>
                    <a:lnTo>
                      <a:pt x="254001" y="103188"/>
                    </a:lnTo>
                    <a:cubicBezTo>
                      <a:pt x="254001" y="107571"/>
                      <a:pt x="250447" y="111125"/>
                      <a:pt x="246063" y="111125"/>
                    </a:cubicBezTo>
                    <a:cubicBezTo>
                      <a:pt x="241679" y="111125"/>
                      <a:pt x="238125" y="114679"/>
                      <a:pt x="238125" y="119063"/>
                    </a:cubicBezTo>
                    <a:lnTo>
                      <a:pt x="238125" y="127000"/>
                    </a:lnTo>
                    <a:cubicBezTo>
                      <a:pt x="238125" y="144535"/>
                      <a:pt x="223910" y="158750"/>
                      <a:pt x="206375" y="158750"/>
                    </a:cubicBezTo>
                    <a:lnTo>
                      <a:pt x="31750" y="158750"/>
                    </a:lnTo>
                    <a:cubicBezTo>
                      <a:pt x="14215" y="158750"/>
                      <a:pt x="0" y="144535"/>
                      <a:pt x="0" y="127000"/>
                    </a:cubicBezTo>
                    <a:lnTo>
                      <a:pt x="0" y="31750"/>
                    </a:lnTo>
                    <a:cubicBezTo>
                      <a:pt x="0" y="14215"/>
                      <a:pt x="14215" y="0"/>
                      <a:pt x="31750" y="0"/>
                    </a:cubicBezTo>
                  </a:path>
                </a:pathLst>
              </a:custGeom>
              <a:noFill/>
              <a:ln w="31750">
                <a:solidFill>
                  <a:srgbClr val="A89E9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2359025" y="3835400"/>
                <a:ext cx="9525" cy="6350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63500">
                    <a:moveTo>
                      <a:pt x="0" y="0"/>
                    </a:moveTo>
                    <a:lnTo>
                      <a:pt x="0" y="63500"/>
                    </a:lnTo>
                  </a:path>
                </a:pathLst>
              </a:custGeom>
              <a:noFill/>
              <a:ln w="31750">
                <a:solidFill>
                  <a:srgbClr val="A89E98"/>
                </a:solidFill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2806446" y="3790950"/>
              <a:ext cx="4362377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55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Discovery calls drain you</a:t>
              </a:r>
            </a:p>
          </p:txBody>
        </p:sp>
      </p:grpSp>
      <p:grpSp>
        <p:nvGrpSpPr>
          <p:cNvPr id="27" name="sign-7"/>
          <p:cNvGrpSpPr/>
          <p:nvPr/>
        </p:nvGrpSpPr>
        <p:grpSpPr>
          <a:xfrm>
            <a:off x="1200150" y="4673600"/>
            <a:ext cx="5321665" cy="1025779"/>
            <a:chOff x="1200150" y="4673600"/>
            <a:chExt cx="5321665" cy="1025779"/>
          </a:xfrm>
        </p:grpSpPr>
        <p:sp>
          <p:nvSpPr>
            <p:cNvPr id="19" name="TextBox 19"/>
            <p:cNvSpPr txBox="1"/>
            <p:nvPr/>
          </p:nvSpPr>
          <p:spPr>
            <a:xfrm>
              <a:off x="1200150" y="467360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4800" b="1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2283283" y="4861381"/>
              <a:ext cx="303793" cy="303819"/>
              <a:chOff x="2283283" y="4861381"/>
              <a:chExt cx="303793" cy="303819"/>
            </a:xfrm>
          </p:grpSpPr>
          <p:sp>
            <p:nvSpPr>
              <p:cNvPr id="20" name="Freeform 20"/>
              <p:cNvSpPr/>
              <p:nvPr/>
            </p:nvSpPr>
            <p:spPr>
              <a:xfrm>
                <a:off x="2422525" y="4994275"/>
                <a:ext cx="31750" cy="31750"/>
              </a:xfrm>
              <a:custGeom>
                <a:avLst/>
                <a:gdLst/>
                <a:ahLst/>
                <a:cxnLst/>
                <a:rect l="l" t="t" r="r" b="b"/>
                <a:pathLst>
                  <a:path w="31750" h="31750">
                    <a:moveTo>
                      <a:pt x="0" y="15875"/>
                    </a:moveTo>
                    <a:cubicBezTo>
                      <a:pt x="0" y="24643"/>
                      <a:pt x="7107" y="31750"/>
                      <a:pt x="15875" y="31750"/>
                    </a:cubicBezTo>
                    <a:cubicBezTo>
                      <a:pt x="24643" y="31750"/>
                      <a:pt x="31750" y="24643"/>
                      <a:pt x="31750" y="15875"/>
                    </a:cubicBezTo>
                    <a:cubicBezTo>
                      <a:pt x="31750" y="7107"/>
                      <a:pt x="24643" y="0"/>
                      <a:pt x="15875" y="0"/>
                    </a:cubicBezTo>
                    <a:cubicBezTo>
                      <a:pt x="7107" y="0"/>
                      <a:pt x="0" y="7107"/>
                      <a:pt x="0" y="15875"/>
                    </a:cubicBezTo>
                  </a:path>
                </a:pathLst>
              </a:custGeom>
              <a:noFill/>
              <a:ln w="31750">
                <a:solidFill>
                  <a:srgbClr val="A89E98"/>
                </a:solidFill>
              </a:ln>
            </p:spPr>
          </p:sp>
          <p:sp>
            <p:nvSpPr>
              <p:cNvPr id="21" name="Freeform 21"/>
              <p:cNvSpPr/>
              <p:nvPr/>
            </p:nvSpPr>
            <p:spPr>
              <a:xfrm>
                <a:off x="2359025" y="4930775"/>
                <a:ext cx="158750" cy="158750"/>
              </a:xfrm>
              <a:custGeom>
                <a:avLst/>
                <a:gdLst/>
                <a:ahLst/>
                <a:cxnLst/>
                <a:rect l="l" t="t" r="r" b="b"/>
                <a:pathLst>
                  <a:path w="158750" h="158750">
                    <a:moveTo>
                      <a:pt x="79375" y="0"/>
                    </a:moveTo>
                    <a:cubicBezTo>
                      <a:pt x="35537" y="0"/>
                      <a:pt x="0" y="35537"/>
                      <a:pt x="0" y="79375"/>
                    </a:cubicBezTo>
                    <a:cubicBezTo>
                      <a:pt x="0" y="123213"/>
                      <a:pt x="35537" y="158750"/>
                      <a:pt x="79375" y="158750"/>
                    </a:cubicBezTo>
                    <a:cubicBezTo>
                      <a:pt x="123213" y="158750"/>
                      <a:pt x="158750" y="123213"/>
                      <a:pt x="158750" y="79375"/>
                    </a:cubicBezTo>
                  </a:path>
                </a:pathLst>
              </a:custGeom>
              <a:noFill/>
              <a:ln w="31750">
                <a:solidFill>
                  <a:srgbClr val="A89E98"/>
                </a:solidFill>
              </a:ln>
            </p:spPr>
          </p:sp>
          <p:sp>
            <p:nvSpPr>
              <p:cNvPr id="22" name="Freeform 22"/>
              <p:cNvSpPr/>
              <p:nvPr/>
            </p:nvSpPr>
            <p:spPr>
              <a:xfrm>
                <a:off x="2283283" y="4861381"/>
                <a:ext cx="303793" cy="303819"/>
              </a:xfrm>
              <a:custGeom>
                <a:avLst/>
                <a:gdLst/>
                <a:ahLst/>
                <a:cxnLst/>
                <a:rect l="l" t="t" r="r" b="b"/>
                <a:pathLst>
                  <a:path w="303793" h="303819">
                    <a:moveTo>
                      <a:pt x="170992" y="6767"/>
                    </a:moveTo>
                    <a:cubicBezTo>
                      <a:pt x="110672" y="0"/>
                      <a:pt x="52660" y="32084"/>
                      <a:pt x="26330" y="86775"/>
                    </a:cubicBezTo>
                    <a:cubicBezTo>
                      <a:pt x="0" y="141466"/>
                      <a:pt x="11100" y="206823"/>
                      <a:pt x="54010" y="249754"/>
                    </a:cubicBezTo>
                    <a:cubicBezTo>
                      <a:pt x="96919" y="292686"/>
                      <a:pt x="162271" y="303819"/>
                      <a:pt x="216975" y="277516"/>
                    </a:cubicBezTo>
                    <a:cubicBezTo>
                      <a:pt x="271679" y="251214"/>
                      <a:pt x="303793" y="193218"/>
                      <a:pt x="297056" y="132894"/>
                    </a:cubicBezTo>
                  </a:path>
                </a:pathLst>
              </a:custGeom>
              <a:noFill/>
              <a:ln w="31750">
                <a:solidFill>
                  <a:srgbClr val="A89E98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2486025" y="4867275"/>
                <a:ext cx="95250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95250">
                    <a:moveTo>
                      <a:pt x="0" y="47625"/>
                    </a:moveTo>
                    <a:lnTo>
                      <a:pt x="0" y="95250"/>
                    </a:lnTo>
                    <a:lnTo>
                      <a:pt x="47625" y="95250"/>
                    </a:lnTo>
                    <a:lnTo>
                      <a:pt x="95250" y="47625"/>
                    </a:lnTo>
                    <a:lnTo>
                      <a:pt x="47625" y="47625"/>
                    </a:lnTo>
                    <a:lnTo>
                      <a:pt x="47625" y="0"/>
                    </a:ln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rgbClr val="A89E98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2438400" y="49625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47625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31750">
                <a:solidFill>
                  <a:srgbClr val="A89E98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2806446" y="4819650"/>
              <a:ext cx="3715369" cy="879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3000"/>
                </a:lnSpc>
              </a:pPr>
              <a:r>
                <a:rPr lang="en" sz="255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You could not describe</a:t>
              </a:r>
              <a:br>
                <a:rPr lang="en" sz="255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</a:br>
              <a:r>
                <a:rPr lang="en" sz="255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your ICP in 10 words</a:t>
              </a:r>
            </a:p>
          </p:txBody>
        </p:sp>
      </p:grpSp>
      <p:grpSp>
        <p:nvGrpSpPr>
          <p:cNvPr id="33" name="count-panel"/>
          <p:cNvGrpSpPr/>
          <p:nvPr/>
        </p:nvGrpSpPr>
        <p:grpSpPr>
          <a:xfrm>
            <a:off x="8191500" y="2286000"/>
            <a:ext cx="3238500" cy="3352800"/>
            <a:chOff x="8191500" y="2286000"/>
            <a:chExt cx="3238500" cy="3352800"/>
          </a:xfrm>
        </p:grpSpPr>
        <p:sp>
          <p:nvSpPr>
            <p:cNvPr id="28" name="Rectangle 28"/>
            <p:cNvSpPr/>
            <p:nvPr/>
          </p:nvSpPr>
          <p:spPr>
            <a:xfrm>
              <a:off x="8191500" y="2286000"/>
              <a:ext cx="3238500" cy="3352800"/>
            </a:xfrm>
            <a:prstGeom prst="rect">
              <a:avLst/>
            </a:prstGeom>
            <a:solidFill>
              <a:srgbClr val="16141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91500" y="2286000"/>
              <a:ext cx="3238500" cy="38100"/>
            </a:xfrm>
            <a:prstGeom prst="rect">
              <a:avLst/>
            </a:prstGeom>
            <a:solidFill>
              <a:srgbClr val="C17A5A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88680" y="2641600"/>
              <a:ext cx="1569034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spc="225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  <a:t>YOUR COUNT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77250" y="3124200"/>
              <a:ext cx="2887736" cy="13906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720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__ / 7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88680" y="4451350"/>
              <a:ext cx="19773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2250"/>
                </a:lnSpc>
              </a:pPr>
              <a:r>
                <a:rPr lang="en" sz="15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Add up every sign you</a:t>
              </a:r>
              <a:br>
                <a:rPr lang="en" sz="15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</a:br>
              <a:r>
                <a:rPr lang="en" sz="15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ticked from 1 to 7.</a:t>
              </a:r>
            </a:p>
          </p:txBody>
        </p:sp>
      </p:grpSp>
      <p:grpSp>
        <p:nvGrpSpPr>
          <p:cNvPr id="37" name="footer"/>
          <p:cNvGrpSpPr/>
          <p:nvPr/>
        </p:nvGrpSpPr>
        <p:grpSpPr>
          <a:xfrm>
            <a:off x="1213104" y="6343650"/>
            <a:ext cx="10222992" cy="234696"/>
            <a:chOff x="1213104" y="6343650"/>
            <a:chExt cx="10222992" cy="234696"/>
          </a:xfrm>
        </p:grpSpPr>
        <p:sp>
          <p:nvSpPr>
            <p:cNvPr id="34" name="TextBox 34"/>
            <p:cNvSpPr txBox="1"/>
            <p:nvPr/>
          </p:nvSpPr>
          <p:spPr>
            <a:xfrm>
              <a:off x="1213104" y="6343650"/>
              <a:ext cx="1431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Brandvictory.com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5819318" y="63436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05 / 08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0406177" y="634365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@samtrabulsi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8382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19050">
            <a:solidFill>
              <a:srgbClr val="C17A5A"/>
            </a:solidFill>
          </a:ln>
        </p:spPr>
      </p:sp>
      <p:grpSp>
        <p:nvGrpSpPr>
          <p:cNvPr id="5" name="header"/>
          <p:cNvGrpSpPr/>
          <p:nvPr/>
        </p:nvGrpSpPr>
        <p:grpSpPr>
          <a:xfrm>
            <a:off x="1200150" y="908050"/>
            <a:ext cx="9235282" cy="1098550"/>
            <a:chOff x="1200150" y="908050"/>
            <a:chExt cx="9235282" cy="1098550"/>
          </a:xfrm>
        </p:grpSpPr>
        <p:sp>
          <p:nvSpPr>
            <p:cNvPr id="3" name="TextBox 3"/>
            <p:cNvSpPr txBox="1"/>
            <p:nvPr/>
          </p:nvSpPr>
          <p:spPr>
            <a:xfrm>
              <a:off x="1211580" y="908050"/>
              <a:ext cx="362849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spc="225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  <a:t>THE PATTERN · OUR READING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00150" y="1244600"/>
              <a:ext cx="9235282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90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Four explanations, one root cause</a:t>
              </a:r>
            </a:p>
          </p:txBody>
        </p:sp>
      </p:grpSp>
      <p:grpSp>
        <p:nvGrpSpPr>
          <p:cNvPr id="16" name="explanations"/>
          <p:cNvGrpSpPr/>
          <p:nvPr/>
        </p:nvGrpSpPr>
        <p:grpSpPr>
          <a:xfrm>
            <a:off x="1211580" y="2374900"/>
            <a:ext cx="6626386" cy="3020568"/>
            <a:chOff x="1211580" y="2374900"/>
            <a:chExt cx="6626386" cy="3020568"/>
          </a:xfrm>
        </p:grpSpPr>
        <p:grpSp>
          <p:nvGrpSpPr>
            <p:cNvPr id="10" name="explanation-labels"/>
            <p:cNvGrpSpPr/>
            <p:nvPr/>
          </p:nvGrpSpPr>
          <p:grpSpPr>
            <a:xfrm>
              <a:off x="1211580" y="2451100"/>
              <a:ext cx="749198" cy="2903220"/>
              <a:chOff x="1211580" y="2451100"/>
              <a:chExt cx="749198" cy="2903220"/>
            </a:xfrm>
          </p:grpSpPr>
          <p:sp>
            <p:nvSpPr>
              <p:cNvPr id="6" name="TextBox 6"/>
              <p:cNvSpPr txBox="1"/>
              <p:nvPr/>
            </p:nvSpPr>
            <p:spPr>
              <a:xfrm>
                <a:off x="1211580" y="2451100"/>
                <a:ext cx="7491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b="1" spc="150" dirty="0">
                    <a:solidFill>
                      <a:srgbClr val="C17A5A"/>
                    </a:solidFill>
                    <a:latin typeface="+mn-lt"/>
                    <a:ea typeface="+mn-ea"/>
                    <a:cs typeface="+mn-cs"/>
                  </a:rPr>
                  <a:t>SIGN 1</a:t>
                </a:r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1211580" y="3213100"/>
                <a:ext cx="7491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b="1" spc="150" dirty="0">
                    <a:solidFill>
                      <a:srgbClr val="C17A5A"/>
                    </a:solidFill>
                    <a:latin typeface="+mn-lt"/>
                    <a:ea typeface="+mn-ea"/>
                    <a:cs typeface="+mn-cs"/>
                  </a:rPr>
                  <a:t>SIGN 2</a:t>
                </a: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1211580" y="4298950"/>
                <a:ext cx="7491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b="1" spc="150" dirty="0">
                    <a:solidFill>
                      <a:srgbClr val="C17A5A"/>
                    </a:solidFill>
                    <a:latin typeface="+mn-lt"/>
                    <a:ea typeface="+mn-ea"/>
                    <a:cs typeface="+mn-cs"/>
                  </a:rPr>
                  <a:t>SIGN 3</a:t>
                </a: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1211580" y="5060950"/>
                <a:ext cx="749198" cy="29337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500" b="1" spc="150" dirty="0">
                    <a:solidFill>
                      <a:srgbClr val="C17A5A"/>
                    </a:solidFill>
                    <a:latin typeface="+mn-lt"/>
                    <a:ea typeface="+mn-ea"/>
                    <a:cs typeface="+mn-cs"/>
                  </a:rPr>
                  <a:t>SIGN 4</a:t>
                </a:r>
              </a:p>
            </p:txBody>
          </p:sp>
        </p:grpSp>
        <p:grpSp>
          <p:nvGrpSpPr>
            <p:cNvPr id="15" name="explanation-quotes"/>
            <p:cNvGrpSpPr/>
            <p:nvPr/>
          </p:nvGrpSpPr>
          <p:grpSpPr>
            <a:xfrm>
              <a:off x="2237232" y="2374900"/>
              <a:ext cx="5600734" cy="3020568"/>
              <a:chOff x="2237232" y="2374900"/>
              <a:chExt cx="5600734" cy="3020568"/>
            </a:xfrm>
          </p:grpSpPr>
          <p:sp>
            <p:nvSpPr>
              <p:cNvPr id="11" name="TextBox 11"/>
              <p:cNvSpPr txBox="1"/>
              <p:nvPr/>
            </p:nvSpPr>
            <p:spPr>
              <a:xfrm>
                <a:off x="2237232" y="2374900"/>
                <a:ext cx="5600734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i="1" dirty="0">
                    <a:solidFill>
                      <a:srgbClr val="F5EDE8"/>
                    </a:solidFill>
                    <a:latin typeface="+mn-lt"/>
                    <a:ea typeface="+mn-ea"/>
                    <a:cs typeface="+mn-cs"/>
                  </a:rPr>
                  <a:t>Your brand is not doing any of the work.</a:t>
                </a:r>
              </a:p>
            </p:txBody>
          </p:sp>
          <p:sp>
            <p:nvSpPr>
              <p:cNvPr id="12" name="TextBox 12"/>
              <p:cNvSpPr txBox="1"/>
              <p:nvPr/>
            </p:nvSpPr>
            <p:spPr>
              <a:xfrm>
                <a:off x="2237232" y="3086100"/>
                <a:ext cx="3835146" cy="81076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>
                  <a:lnSpc>
                    <a:spcPts val="3150"/>
                  </a:lnSpc>
                </a:pPr>
                <a:r>
                  <a:rPr lang="en" sz="2100" i="1" dirty="0">
                    <a:solidFill>
                      <a:srgbClr val="F5EDE8"/>
                    </a:solidFill>
                    <a:latin typeface="+mn-lt"/>
                    <a:ea typeface="+mn-ea"/>
                    <a:cs typeface="+mn-cs"/>
                  </a:rPr>
                  <a:t>Clear positioning sells itself.</a:t>
                </a:r>
                <a:br>
                  <a:rPr lang="en" sz="2100" i="1" dirty="0">
                    <a:solidFill>
                      <a:srgbClr val="F5EDE8"/>
                    </a:solidFill>
                    <a:latin typeface="+mn-lt"/>
                    <a:ea typeface="+mn-ea"/>
                    <a:cs typeface="+mn-cs"/>
                  </a:rPr>
                </a:br>
                <a:r>
                  <a:rPr lang="en" sz="2100" i="1" dirty="0">
                    <a:solidFill>
                      <a:srgbClr val="F5EDE8"/>
                    </a:solidFill>
                    <a:latin typeface="+mn-lt"/>
                    <a:ea typeface="+mn-ea"/>
                    <a:cs typeface="+mn-cs"/>
                  </a:rPr>
                  <a:t>You should not have to.</a:t>
                </a: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2237232" y="4222750"/>
                <a:ext cx="4568581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i="1" dirty="0">
                    <a:solidFill>
                      <a:srgbClr val="F5EDE8"/>
                    </a:solidFill>
                    <a:latin typeface="+mn-lt"/>
                    <a:ea typeface="+mn-ea"/>
                    <a:cs typeface="+mn-cs"/>
                  </a:rPr>
                  <a:t>Wrong people made it to the call.</a:t>
                </a: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2237232" y="4984750"/>
                <a:ext cx="5133133" cy="41071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2100" i="1" dirty="0">
                    <a:solidFill>
                      <a:srgbClr val="F5EDE8"/>
                    </a:solidFill>
                    <a:latin typeface="+mn-lt"/>
                    <a:ea typeface="+mn-ea"/>
                    <a:cs typeface="+mn-cs"/>
                  </a:rPr>
                  <a:t>Content without positioning is noise.</a:t>
                </a:r>
              </a:p>
            </p:txBody>
          </p:sp>
        </p:grpSp>
      </p:grpSp>
      <p:grpSp>
        <p:nvGrpSpPr>
          <p:cNvPr id="21" name="convergence"/>
          <p:cNvGrpSpPr/>
          <p:nvPr/>
        </p:nvGrpSpPr>
        <p:grpSpPr>
          <a:xfrm>
            <a:off x="8096250" y="2286000"/>
            <a:ext cx="3352800" cy="3048000"/>
            <a:chOff x="8096250" y="2286000"/>
            <a:chExt cx="3352800" cy="3048000"/>
          </a:xfrm>
        </p:grpSpPr>
        <p:sp>
          <p:nvSpPr>
            <p:cNvPr id="17" name="Freeform 17"/>
            <p:cNvSpPr/>
            <p:nvPr/>
          </p:nvSpPr>
          <p:spPr>
            <a:xfrm>
              <a:off x="8096250" y="2286000"/>
              <a:ext cx="381000" cy="3048000"/>
            </a:xfrm>
            <a:prstGeom prst="rightBrace">
              <a:avLst/>
            </a:prstGeom>
            <a:noFill/>
            <a:ln w="19050">
              <a:solidFill>
                <a:srgbClr val="C17A5A"/>
              </a:solidFill>
            </a:ln>
          </p:spPr>
        </p:sp>
        <p:sp>
          <p:nvSpPr>
            <p:cNvPr id="18" name="Freeform 18"/>
            <p:cNvSpPr/>
            <p:nvPr/>
          </p:nvSpPr>
          <p:spPr>
            <a:xfrm>
              <a:off x="8686800" y="3619500"/>
              <a:ext cx="609600" cy="381000"/>
            </a:xfrm>
            <a:prstGeom prst="rightArrow">
              <a:avLst/>
            </a:prstGeom>
            <a:solidFill>
              <a:srgbClr val="8B4A2A"/>
            </a:solidFill>
            <a:ln>
              <a:noFill/>
            </a:ln>
          </p:spPr>
        </p:sp>
        <p:sp>
          <p:nvSpPr>
            <p:cNvPr id="19" name="Ellipse 19"/>
            <p:cNvSpPr/>
            <p:nvPr/>
          </p:nvSpPr>
          <p:spPr>
            <a:xfrm>
              <a:off x="9391650" y="2781300"/>
              <a:ext cx="2057400" cy="2057400"/>
            </a:xfrm>
            <a:prstGeom prst="ellipse">
              <a:avLst/>
            </a:prstGeom>
            <a:solidFill>
              <a:srgbClr val="C17A5A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9619016" y="3651250"/>
              <a:ext cx="16026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2100" b="1" dirty="0">
                  <a:solidFill>
                    <a:srgbClr val="0B0B0B"/>
                  </a:solidFill>
                  <a:latin typeface="+mn-lt"/>
                  <a:ea typeface="+mn-ea"/>
                  <a:cs typeface="+mn-cs"/>
                </a:rPr>
                <a:t>Positioning</a:t>
              </a:r>
            </a:p>
          </p:txBody>
        </p:sp>
      </p:grpSp>
      <p:grpSp>
        <p:nvGrpSpPr>
          <p:cNvPr id="25" name="footer"/>
          <p:cNvGrpSpPr/>
          <p:nvPr/>
        </p:nvGrpSpPr>
        <p:grpSpPr>
          <a:xfrm>
            <a:off x="1213104" y="6343650"/>
            <a:ext cx="10222992" cy="234696"/>
            <a:chOff x="1213104" y="6343650"/>
            <a:chExt cx="10222992" cy="234696"/>
          </a:xfrm>
        </p:grpSpPr>
        <p:sp>
          <p:nvSpPr>
            <p:cNvPr id="22" name="TextBox 22"/>
            <p:cNvSpPr txBox="1"/>
            <p:nvPr/>
          </p:nvSpPr>
          <p:spPr>
            <a:xfrm>
              <a:off x="1213104" y="6343650"/>
              <a:ext cx="1431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Brandvictory.com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819318" y="63436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06 / 08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10406177" y="634365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@samtrabulsi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8382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19050">
            <a:solidFill>
              <a:srgbClr val="C17A5A"/>
            </a:solidFill>
          </a:ln>
        </p:spPr>
      </p:sp>
      <p:grpSp>
        <p:nvGrpSpPr>
          <p:cNvPr id="4" name="kicker"/>
          <p:cNvGrpSpPr/>
          <p:nvPr/>
        </p:nvGrpSpPr>
        <p:grpSpPr>
          <a:xfrm>
            <a:off x="1211580" y="908050"/>
            <a:ext cx="1877873" cy="293370"/>
            <a:chOff x="1211580" y="908050"/>
            <a:chExt cx="1877873" cy="293370"/>
          </a:xfrm>
        </p:grpSpPr>
        <p:sp>
          <p:nvSpPr>
            <p:cNvPr id="3" name="TextBox 3"/>
            <p:cNvSpPr txBox="1"/>
            <p:nvPr/>
          </p:nvSpPr>
          <p:spPr>
            <a:xfrm>
              <a:off x="1211580" y="908050"/>
              <a:ext cx="1877873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spc="225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  <a:t>THE DIAGNOSIS</a:t>
              </a:r>
            </a:p>
          </p:txBody>
        </p:sp>
      </p:grpSp>
      <p:grpSp>
        <p:nvGrpSpPr>
          <p:cNvPr id="8" name="pull-quote"/>
          <p:cNvGrpSpPr/>
          <p:nvPr/>
        </p:nvGrpSpPr>
        <p:grpSpPr>
          <a:xfrm>
            <a:off x="1200150" y="1028700"/>
            <a:ext cx="8263128" cy="4271518"/>
            <a:chOff x="1200150" y="1028700"/>
            <a:chExt cx="8263128" cy="4271518"/>
          </a:xfrm>
        </p:grpSpPr>
        <p:sp>
          <p:nvSpPr>
            <p:cNvPr id="5" name="TextBox 5"/>
            <p:cNvSpPr txBox="1"/>
            <p:nvPr/>
          </p:nvSpPr>
          <p:spPr>
            <a:xfrm>
              <a:off x="1200150" y="1028700"/>
              <a:ext cx="1204246" cy="28765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0" b="1" dirty="0">
                  <a:solidFill>
                    <a:srgbClr val="8B4A2A"/>
                  </a:solidFill>
                  <a:latin typeface="+mn-lt"/>
                  <a:ea typeface="+mn-ea"/>
                  <a:cs typeface="+mn-cs"/>
                </a:rPr>
                <a:t>“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200150" y="3238500"/>
              <a:ext cx="8263128" cy="1695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>
                <a:lnSpc>
                  <a:spcPts val="6000"/>
                </a:lnSpc>
              </a:pPr>
              <a:r>
                <a:rPr lang="en" sz="480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 xml:space="preserve">Attraction is a </a:t>
              </a:r>
              <a:r>
                <a:rPr lang="en" sz="4800" b="1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  <a:t>positioning</a:t>
              </a:r>
              <a:br>
                <a:rPr lang="en" sz="4800" b="1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</a:br>
              <a:r>
                <a:rPr lang="en" sz="480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problem in disguise.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208532" y="4889500"/>
              <a:ext cx="1992055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— Sam Trabulsi</a:t>
              </a:r>
            </a:p>
          </p:txBody>
        </p:sp>
      </p:grpSp>
      <p:grpSp>
        <p:nvGrpSpPr>
          <p:cNvPr id="12" name="footer"/>
          <p:cNvGrpSpPr/>
          <p:nvPr/>
        </p:nvGrpSpPr>
        <p:grpSpPr>
          <a:xfrm>
            <a:off x="1213104" y="6343650"/>
            <a:ext cx="10222992" cy="234696"/>
            <a:chOff x="1213104" y="6343650"/>
            <a:chExt cx="10222992" cy="234696"/>
          </a:xfrm>
        </p:grpSpPr>
        <p:sp>
          <p:nvSpPr>
            <p:cNvPr id="9" name="TextBox 9"/>
            <p:cNvSpPr txBox="1"/>
            <p:nvPr/>
          </p:nvSpPr>
          <p:spPr>
            <a:xfrm>
              <a:off x="1213104" y="6343650"/>
              <a:ext cx="1431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Brandvictory.com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5819318" y="63436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07 / 08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6177" y="634365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@samtrabulsi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0B0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2"/>
          <p:cNvSpPr/>
          <p:nvPr/>
        </p:nvSpPr>
        <p:spPr>
          <a:xfrm>
            <a:off x="838200" y="0"/>
            <a:ext cx="9525" cy="6858000"/>
          </a:xfrm>
          <a:custGeom>
            <a:avLst/>
            <a:gdLst/>
            <a:ahLst/>
            <a:cxnLst/>
            <a:rect l="l" t="t" r="r" b="b"/>
            <a:pathLst>
              <a:path w="9525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noFill/>
          <a:ln w="19050">
            <a:solidFill>
              <a:srgbClr val="C17A5A"/>
            </a:solidFill>
          </a:ln>
        </p:spPr>
      </p:sp>
      <p:grpSp>
        <p:nvGrpSpPr>
          <p:cNvPr id="5" name="header"/>
          <p:cNvGrpSpPr/>
          <p:nvPr/>
        </p:nvGrpSpPr>
        <p:grpSpPr>
          <a:xfrm>
            <a:off x="1200150" y="908050"/>
            <a:ext cx="4633554" cy="1098550"/>
            <a:chOff x="1200150" y="908050"/>
            <a:chExt cx="4633554" cy="1098550"/>
          </a:xfrm>
        </p:grpSpPr>
        <p:sp>
          <p:nvSpPr>
            <p:cNvPr id="3" name="TextBox 3"/>
            <p:cNvSpPr txBox="1"/>
            <p:nvPr/>
          </p:nvSpPr>
          <p:spPr>
            <a:xfrm>
              <a:off x="1211580" y="908050"/>
              <a:ext cx="2089099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b="1" spc="225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  <a:t>YOUR NEXT STEP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200150" y="1244600"/>
              <a:ext cx="4633554" cy="7620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390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Start with sign 7</a:t>
              </a:r>
            </a:p>
          </p:txBody>
        </p:sp>
      </p:grpSp>
      <p:grpSp>
        <p:nvGrpSpPr>
          <p:cNvPr id="7" name="instruction"/>
          <p:cNvGrpSpPr/>
          <p:nvPr/>
        </p:nvGrpSpPr>
        <p:grpSpPr>
          <a:xfrm>
            <a:off x="1206246" y="2190750"/>
            <a:ext cx="8109706" cy="498729"/>
            <a:chOff x="1206246" y="2190750"/>
            <a:chExt cx="8109706" cy="498729"/>
          </a:xfrm>
        </p:grpSpPr>
        <p:sp>
          <p:nvSpPr>
            <p:cNvPr id="6" name="TextBox 6"/>
            <p:cNvSpPr txBox="1"/>
            <p:nvPr/>
          </p:nvSpPr>
          <p:spPr>
            <a:xfrm>
              <a:off x="1206246" y="2190750"/>
              <a:ext cx="8109706" cy="49872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550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 xml:space="preserve">Describe your ideal client in </a:t>
              </a:r>
              <a:r>
                <a:rPr lang="en" sz="2550" b="1" dirty="0">
                  <a:solidFill>
                    <a:srgbClr val="C17A5A"/>
                  </a:solidFill>
                  <a:latin typeface="+mn-lt"/>
                  <a:ea typeface="+mn-ea"/>
                  <a:cs typeface="+mn-cs"/>
                </a:rPr>
                <a:t>10 words</a:t>
              </a:r>
              <a:r>
                <a:rPr lang="en" sz="2550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 xml:space="preserve"> or fewer.</a:t>
              </a:r>
            </a:p>
          </p:txBody>
        </p:sp>
      </p:grpSp>
      <p:grpSp>
        <p:nvGrpSpPr>
          <p:cNvPr id="30" name="word-slots"/>
          <p:cNvGrpSpPr/>
          <p:nvPr/>
        </p:nvGrpSpPr>
        <p:grpSpPr>
          <a:xfrm>
            <a:off x="1213104" y="3524250"/>
            <a:ext cx="9988296" cy="1149096"/>
            <a:chOff x="1213104" y="3524250"/>
            <a:chExt cx="9988296" cy="1149096"/>
          </a:xfrm>
        </p:grpSpPr>
        <p:grpSp>
          <p:nvGrpSpPr>
            <p:cNvPr id="18" name="slot-lines"/>
            <p:cNvGrpSpPr/>
            <p:nvPr/>
          </p:nvGrpSpPr>
          <p:grpSpPr>
            <a:xfrm>
              <a:off x="1219200" y="3524250"/>
              <a:ext cx="9982200" cy="866775"/>
              <a:chOff x="1219200" y="3524250"/>
              <a:chExt cx="9982200" cy="866775"/>
            </a:xfrm>
          </p:grpSpPr>
          <p:sp>
            <p:nvSpPr>
              <p:cNvPr id="8" name="Line 8"/>
              <p:cNvSpPr/>
              <p:nvPr/>
            </p:nvSpPr>
            <p:spPr>
              <a:xfrm>
                <a:off x="1219200" y="3524250"/>
                <a:ext cx="1828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9525">
                    <a:moveTo>
                      <a:pt x="0" y="0"/>
                    </a:moveTo>
                    <a:lnTo>
                      <a:pt x="1828800" y="0"/>
                    </a:lnTo>
                  </a:path>
                </a:pathLst>
              </a:custGeom>
              <a:noFill/>
              <a:ln w="19050">
                <a:solidFill>
                  <a:srgbClr val="8B4A2A"/>
                </a:solidFill>
              </a:ln>
            </p:spPr>
          </p:sp>
          <p:sp>
            <p:nvSpPr>
              <p:cNvPr id="9" name="Line 9"/>
              <p:cNvSpPr/>
              <p:nvPr/>
            </p:nvSpPr>
            <p:spPr>
              <a:xfrm>
                <a:off x="3257550" y="3524250"/>
                <a:ext cx="1828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9525">
                    <a:moveTo>
                      <a:pt x="0" y="0"/>
                    </a:moveTo>
                    <a:lnTo>
                      <a:pt x="1828800" y="0"/>
                    </a:lnTo>
                  </a:path>
                </a:pathLst>
              </a:custGeom>
              <a:noFill/>
              <a:ln w="19050">
                <a:solidFill>
                  <a:srgbClr val="8B4A2A"/>
                </a:solidFill>
              </a:ln>
            </p:spPr>
          </p:sp>
          <p:sp>
            <p:nvSpPr>
              <p:cNvPr id="10" name="Line 10"/>
              <p:cNvSpPr/>
              <p:nvPr/>
            </p:nvSpPr>
            <p:spPr>
              <a:xfrm>
                <a:off x="5295900" y="3524250"/>
                <a:ext cx="1828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9525">
                    <a:moveTo>
                      <a:pt x="0" y="0"/>
                    </a:moveTo>
                    <a:lnTo>
                      <a:pt x="1828800" y="0"/>
                    </a:lnTo>
                  </a:path>
                </a:pathLst>
              </a:custGeom>
              <a:noFill/>
              <a:ln w="19050">
                <a:solidFill>
                  <a:srgbClr val="8B4A2A"/>
                </a:solidFill>
              </a:ln>
            </p:spPr>
          </p:sp>
          <p:sp>
            <p:nvSpPr>
              <p:cNvPr id="11" name="Line 11"/>
              <p:cNvSpPr/>
              <p:nvPr/>
            </p:nvSpPr>
            <p:spPr>
              <a:xfrm>
                <a:off x="7334250" y="3524250"/>
                <a:ext cx="1828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9525">
                    <a:moveTo>
                      <a:pt x="0" y="0"/>
                    </a:moveTo>
                    <a:lnTo>
                      <a:pt x="1828800" y="0"/>
                    </a:lnTo>
                  </a:path>
                </a:pathLst>
              </a:custGeom>
              <a:noFill/>
              <a:ln w="19050">
                <a:solidFill>
                  <a:srgbClr val="8B4A2A"/>
                </a:solidFill>
              </a:ln>
            </p:spPr>
          </p:sp>
          <p:sp>
            <p:nvSpPr>
              <p:cNvPr id="12" name="Line 12"/>
              <p:cNvSpPr/>
              <p:nvPr/>
            </p:nvSpPr>
            <p:spPr>
              <a:xfrm>
                <a:off x="9372600" y="3524250"/>
                <a:ext cx="1828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9525">
                    <a:moveTo>
                      <a:pt x="0" y="0"/>
                    </a:moveTo>
                    <a:lnTo>
                      <a:pt x="1828800" y="0"/>
                    </a:lnTo>
                  </a:path>
                </a:pathLst>
              </a:custGeom>
              <a:noFill/>
              <a:ln w="19050">
                <a:solidFill>
                  <a:srgbClr val="8B4A2A"/>
                </a:solidFill>
              </a:ln>
            </p:spPr>
          </p:sp>
          <p:sp>
            <p:nvSpPr>
              <p:cNvPr id="13" name="Line 13"/>
              <p:cNvSpPr/>
              <p:nvPr/>
            </p:nvSpPr>
            <p:spPr>
              <a:xfrm>
                <a:off x="1219200" y="4381500"/>
                <a:ext cx="1828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9525">
                    <a:moveTo>
                      <a:pt x="0" y="0"/>
                    </a:moveTo>
                    <a:lnTo>
                      <a:pt x="1828800" y="0"/>
                    </a:lnTo>
                  </a:path>
                </a:pathLst>
              </a:custGeom>
              <a:noFill/>
              <a:ln w="19050">
                <a:solidFill>
                  <a:srgbClr val="8B4A2A"/>
                </a:solidFill>
              </a:ln>
            </p:spPr>
          </p:sp>
          <p:sp>
            <p:nvSpPr>
              <p:cNvPr id="14" name="Line 14"/>
              <p:cNvSpPr/>
              <p:nvPr/>
            </p:nvSpPr>
            <p:spPr>
              <a:xfrm>
                <a:off x="3257550" y="4381500"/>
                <a:ext cx="1828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9525">
                    <a:moveTo>
                      <a:pt x="0" y="0"/>
                    </a:moveTo>
                    <a:lnTo>
                      <a:pt x="1828800" y="0"/>
                    </a:lnTo>
                  </a:path>
                </a:pathLst>
              </a:custGeom>
              <a:noFill/>
              <a:ln w="19050">
                <a:solidFill>
                  <a:srgbClr val="8B4A2A"/>
                </a:solidFill>
              </a:ln>
            </p:spPr>
          </p:sp>
          <p:sp>
            <p:nvSpPr>
              <p:cNvPr id="15" name="Line 15"/>
              <p:cNvSpPr/>
              <p:nvPr/>
            </p:nvSpPr>
            <p:spPr>
              <a:xfrm>
                <a:off x="5295900" y="4381500"/>
                <a:ext cx="1828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9525">
                    <a:moveTo>
                      <a:pt x="0" y="0"/>
                    </a:moveTo>
                    <a:lnTo>
                      <a:pt x="1828800" y="0"/>
                    </a:lnTo>
                  </a:path>
                </a:pathLst>
              </a:custGeom>
              <a:noFill/>
              <a:ln w="19050">
                <a:solidFill>
                  <a:srgbClr val="8B4A2A"/>
                </a:solidFill>
              </a:ln>
            </p:spPr>
          </p:sp>
          <p:sp>
            <p:nvSpPr>
              <p:cNvPr id="16" name="Line 16"/>
              <p:cNvSpPr/>
              <p:nvPr/>
            </p:nvSpPr>
            <p:spPr>
              <a:xfrm>
                <a:off x="7334250" y="4381500"/>
                <a:ext cx="1828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9525">
                    <a:moveTo>
                      <a:pt x="0" y="0"/>
                    </a:moveTo>
                    <a:lnTo>
                      <a:pt x="1828800" y="0"/>
                    </a:lnTo>
                  </a:path>
                </a:pathLst>
              </a:custGeom>
              <a:noFill/>
              <a:ln w="19050">
                <a:solidFill>
                  <a:srgbClr val="8B4A2A"/>
                </a:solidFill>
              </a:ln>
            </p:spPr>
          </p:sp>
          <p:sp>
            <p:nvSpPr>
              <p:cNvPr id="17" name="Line 17"/>
              <p:cNvSpPr/>
              <p:nvPr/>
            </p:nvSpPr>
            <p:spPr>
              <a:xfrm>
                <a:off x="9372600" y="4381500"/>
                <a:ext cx="1828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828800" h="9525">
                    <a:moveTo>
                      <a:pt x="0" y="0"/>
                    </a:moveTo>
                    <a:lnTo>
                      <a:pt x="1828800" y="0"/>
                    </a:lnTo>
                  </a:path>
                </a:pathLst>
              </a:custGeom>
              <a:noFill/>
              <a:ln w="19050">
                <a:solidFill>
                  <a:srgbClr val="8B4A2A"/>
                </a:solidFill>
              </a:ln>
            </p:spPr>
          </p:sp>
        </p:grpSp>
        <p:grpSp>
          <p:nvGrpSpPr>
            <p:cNvPr id="29" name="slot-numbers"/>
            <p:cNvGrpSpPr/>
            <p:nvPr/>
          </p:nvGrpSpPr>
          <p:grpSpPr>
            <a:xfrm>
              <a:off x="1213104" y="3581400"/>
              <a:ext cx="8343290" cy="1091946"/>
              <a:chOff x="1213104" y="3581400"/>
              <a:chExt cx="8343290" cy="1091946"/>
            </a:xfrm>
          </p:grpSpPr>
          <p:sp>
            <p:nvSpPr>
              <p:cNvPr id="19" name="TextBox 19"/>
              <p:cNvSpPr txBox="1"/>
              <p:nvPr/>
            </p:nvSpPr>
            <p:spPr>
              <a:xfrm>
                <a:off x="1213104" y="358140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A89E98"/>
                    </a:solidFill>
                    <a:latin typeface="+mn-lt"/>
                    <a:ea typeface="+mn-ea"/>
                    <a:cs typeface="+mn-cs"/>
                  </a:rPr>
                  <a:t>1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3251454" y="358140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A89E98"/>
                    </a:solidFill>
                    <a:latin typeface="+mn-lt"/>
                    <a:ea typeface="+mn-ea"/>
                    <a:cs typeface="+mn-cs"/>
                  </a:rPr>
                  <a:t>2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5289804" y="358140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A89E98"/>
                    </a:solidFill>
                    <a:latin typeface="+mn-lt"/>
                    <a:ea typeface="+mn-ea"/>
                    <a:cs typeface="+mn-cs"/>
                  </a:rPr>
                  <a:t>3</a:t>
                </a: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7328154" y="358140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A89E98"/>
                    </a:solidFill>
                    <a:latin typeface="+mn-lt"/>
                    <a:ea typeface="+mn-ea"/>
                    <a:cs typeface="+mn-cs"/>
                  </a:rPr>
                  <a:t>4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9366504" y="358140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A89E98"/>
                    </a:solidFill>
                    <a:latin typeface="+mn-lt"/>
                    <a:ea typeface="+mn-ea"/>
                    <a:cs typeface="+mn-cs"/>
                  </a:rPr>
                  <a:t>5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213104" y="443865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A89E98"/>
                    </a:solidFill>
                    <a:latin typeface="+mn-lt"/>
                    <a:ea typeface="+mn-ea"/>
                    <a:cs typeface="+mn-cs"/>
                  </a:rPr>
                  <a:t>6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3251454" y="443865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A89E98"/>
                    </a:solidFill>
                    <a:latin typeface="+mn-lt"/>
                    <a:ea typeface="+mn-ea"/>
                    <a:cs typeface="+mn-cs"/>
                  </a:rPr>
                  <a:t>7</a:t>
                </a:r>
              </a:p>
            </p:txBody>
          </p:sp>
          <p:sp>
            <p:nvSpPr>
              <p:cNvPr id="26" name="TextBox 26"/>
              <p:cNvSpPr txBox="1"/>
              <p:nvPr/>
            </p:nvSpPr>
            <p:spPr>
              <a:xfrm>
                <a:off x="5289804" y="443865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A89E98"/>
                    </a:solidFill>
                    <a:latin typeface="+mn-lt"/>
                    <a:ea typeface="+mn-ea"/>
                    <a:cs typeface="+mn-cs"/>
                  </a:rPr>
                  <a:t>8</a:t>
                </a:r>
              </a:p>
            </p:txBody>
          </p:sp>
          <p:sp>
            <p:nvSpPr>
              <p:cNvPr id="27" name="TextBox 27"/>
              <p:cNvSpPr txBox="1"/>
              <p:nvPr/>
            </p:nvSpPr>
            <p:spPr>
              <a:xfrm>
                <a:off x="7328154" y="4438650"/>
                <a:ext cx="101041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A89E98"/>
                    </a:solidFill>
                    <a:latin typeface="+mn-lt"/>
                    <a:ea typeface="+mn-ea"/>
                    <a:cs typeface="+mn-cs"/>
                  </a:rPr>
                  <a:t>9</a:t>
                </a: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9366504" y="4438650"/>
                <a:ext cx="189890" cy="23469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" sz="1200" dirty="0">
                    <a:solidFill>
                      <a:srgbClr val="A89E98"/>
                    </a:solidFill>
                    <a:latin typeface="+mn-lt"/>
                    <a:ea typeface="+mn-ea"/>
                    <a:cs typeface="+mn-cs"/>
                  </a:rPr>
                  <a:t>10</a:t>
                </a:r>
              </a:p>
            </p:txBody>
          </p:sp>
        </p:grpSp>
      </p:grpSp>
      <p:grpSp>
        <p:nvGrpSpPr>
          <p:cNvPr id="34" name="closing-line"/>
          <p:cNvGrpSpPr/>
          <p:nvPr/>
        </p:nvGrpSpPr>
        <p:grpSpPr>
          <a:xfrm>
            <a:off x="1219200" y="5143500"/>
            <a:ext cx="8381329" cy="725170"/>
            <a:chOff x="1219200" y="5143500"/>
            <a:chExt cx="8381329" cy="725170"/>
          </a:xfrm>
        </p:grpSpPr>
        <p:sp>
          <p:nvSpPr>
            <p:cNvPr id="31" name="Rectangle 31"/>
            <p:cNvSpPr/>
            <p:nvPr/>
          </p:nvSpPr>
          <p:spPr>
            <a:xfrm>
              <a:off x="1219200" y="5143500"/>
              <a:ext cx="57150" cy="685800"/>
            </a:xfrm>
            <a:prstGeom prst="rect">
              <a:avLst/>
            </a:prstGeom>
            <a:solidFill>
              <a:srgbClr val="C17A5A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437132" y="5156200"/>
              <a:ext cx="816339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2100" b="1" dirty="0">
                  <a:solidFill>
                    <a:srgbClr val="F5EDE8"/>
                  </a:solidFill>
                  <a:latin typeface="+mn-lt"/>
                  <a:ea typeface="+mn-ea"/>
                  <a:cs typeface="+mn-cs"/>
                </a:rPr>
                <a:t>Can’t do it in 10 words? That is where the work starts.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1440180" y="5575300"/>
              <a:ext cx="4635711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5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Attraction is a positioning problem in disguise.</a:t>
              </a:r>
            </a:p>
          </p:txBody>
        </p:sp>
      </p:grpSp>
      <p:grpSp>
        <p:nvGrpSpPr>
          <p:cNvPr id="38" name="footer"/>
          <p:cNvGrpSpPr/>
          <p:nvPr/>
        </p:nvGrpSpPr>
        <p:grpSpPr>
          <a:xfrm>
            <a:off x="1213104" y="6343650"/>
            <a:ext cx="10222992" cy="234696"/>
            <a:chOff x="1213104" y="6343650"/>
            <a:chExt cx="10222992" cy="234696"/>
          </a:xfrm>
        </p:grpSpPr>
        <p:sp>
          <p:nvSpPr>
            <p:cNvPr id="35" name="TextBox 35"/>
            <p:cNvSpPr txBox="1"/>
            <p:nvPr/>
          </p:nvSpPr>
          <p:spPr>
            <a:xfrm>
              <a:off x="1213104" y="6343650"/>
              <a:ext cx="1431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Brandvictory.com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819318" y="634365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08 / 08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06177" y="634365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en" sz="1200" dirty="0">
                  <a:solidFill>
                    <a:srgbClr val="A89E98"/>
                  </a:solidFill>
                  <a:latin typeface="+mn-lt"/>
                  <a:ea typeface="+mn-ea"/>
                  <a:cs typeface="+mn-cs"/>
                </a:rPr>
                <a:t>@samtrabulsi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attraction_deck">
  <a:themeElements>
    <a:clrScheme name="attraction_dec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ttraction_deck">
      <a:majorFont>
        <a:latin typeface="Plus Jakarta Sans"/>
        <a:ea typeface="Microsoft YaHei"/>
        <a:cs typeface="Plus Jakarta San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lus Jakarta Sans"/>
        <a:ea typeface="Microsoft YaHei"/>
        <a:cs typeface="Plus Jakarta Sans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ttraction_deck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en</dc:language>
  <cp:lastModifiedBy/>
  <cp:revision>1</cp:revision>
  <dcterms:created xsi:type="dcterms:W3CDTF">2026-10-11T09:44:04Z</dcterms:created>
  <dcterms:modified xsi:type="dcterms:W3CDTF">2026-10-11T09:44:04Z</dcterms:modified>
  <cp:category/>
  <cp:contentStatus/>
</cp:coreProperties>
</file>